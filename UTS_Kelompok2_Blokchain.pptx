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Helvetica World Bold" charset="1" panose="020B0800040000020004"/>
      <p:regular r:id="rId21"/>
    </p:embeddedFont>
    <p:embeddedFont>
      <p:font typeface="Bricolage Grotesque" charset="1" panose="020B0605040402000204"/>
      <p:regular r:id="rId22"/>
    </p:embeddedFont>
    <p:embeddedFont>
      <p:font typeface="Canva Sans" charset="1" panose="020B0503030501040103"/>
      <p:regular r:id="rId23"/>
    </p:embeddedFont>
    <p:embeddedFont>
      <p:font typeface="Bricolage Grotesque Bold" charset="1" panose="020B0605040402000204"/>
      <p:regular r:id="rId24"/>
    </p:embeddedFont>
    <p:embeddedFont>
      <p:font typeface="Canva Sans Bold" charset="1" panose="020B0803030501040103"/>
      <p:regular r:id="rId25"/>
    </p:embeddedFont>
    <p:embeddedFont>
      <p:font typeface="Open Sans Bold" charset="1" panose="020B0806030504020204"/>
      <p:regular r:id="rId26"/>
    </p:embeddedFont>
    <p:embeddedFont>
      <p:font typeface="Open Sans" charset="1" panose="020B0606030504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12" Target="../media/image29.png" Type="http://schemas.openxmlformats.org/officeDocument/2006/relationships/image"/><Relationship Id="rId13" Target="../media/image30.svg" Type="http://schemas.openxmlformats.org/officeDocument/2006/relationships/image"/><Relationship Id="rId14" Target="../media/image31.png" Type="http://schemas.openxmlformats.org/officeDocument/2006/relationships/image"/><Relationship Id="rId15" Target="../media/image3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3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40.png" Type="http://schemas.openxmlformats.org/officeDocument/2006/relationships/image"/><Relationship Id="rId9" Target="../embeddings/oleObject1.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41.png" Type="http://schemas.openxmlformats.org/officeDocument/2006/relationships/image"/><Relationship Id="rId5" Target="../media/image4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43.jpeg" Type="http://schemas.openxmlformats.org/officeDocument/2006/relationships/image"/><Relationship Id="rId7" Target="../media/image4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47.jpeg" Type="http://schemas.openxmlformats.org/officeDocument/2006/relationships/image"/><Relationship Id="rId5" Target="../media/image4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51.png" Type="http://schemas.openxmlformats.org/officeDocument/2006/relationships/image"/><Relationship Id="rId15" Target="../media/image5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Freeform 2" id="2"/>
          <p:cNvSpPr/>
          <p:nvPr/>
        </p:nvSpPr>
        <p:spPr>
          <a:xfrm flipH="false" flipV="false" rot="0">
            <a:off x="1808329" y="956480"/>
            <a:ext cx="14467786" cy="8312400"/>
          </a:xfrm>
          <a:custGeom>
            <a:avLst/>
            <a:gdLst/>
            <a:ahLst/>
            <a:cxnLst/>
            <a:rect r="r" b="b" t="t" l="l"/>
            <a:pathLst>
              <a:path h="8312400" w="14467786">
                <a:moveTo>
                  <a:pt x="0" y="0"/>
                </a:moveTo>
                <a:lnTo>
                  <a:pt x="14467786" y="0"/>
                </a:lnTo>
                <a:lnTo>
                  <a:pt x="14467786" y="8312401"/>
                </a:lnTo>
                <a:lnTo>
                  <a:pt x="0" y="8312401"/>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8601123"/>
            <a:ext cx="657177" cy="657177"/>
          </a:xfrm>
          <a:custGeom>
            <a:avLst/>
            <a:gdLst/>
            <a:ahLst/>
            <a:cxnLst/>
            <a:rect r="r" b="b" t="t" l="l"/>
            <a:pathLst>
              <a:path h="657177" w="657177">
                <a:moveTo>
                  <a:pt x="0" y="0"/>
                </a:moveTo>
                <a:lnTo>
                  <a:pt x="657177" y="0"/>
                </a:lnTo>
                <a:lnTo>
                  <a:pt x="657177" y="657177"/>
                </a:lnTo>
                <a:lnTo>
                  <a:pt x="0" y="6571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6879474" y="-1527581"/>
            <a:ext cx="13794380" cy="13794380"/>
          </a:xfrm>
          <a:custGeom>
            <a:avLst/>
            <a:gdLst/>
            <a:ahLst/>
            <a:cxnLst/>
            <a:rect r="r" b="b" t="t" l="l"/>
            <a:pathLst>
              <a:path h="13794380" w="13794380">
                <a:moveTo>
                  <a:pt x="13794380" y="0"/>
                </a:moveTo>
                <a:lnTo>
                  <a:pt x="0" y="0"/>
                </a:lnTo>
                <a:lnTo>
                  <a:pt x="0" y="13794381"/>
                </a:lnTo>
                <a:lnTo>
                  <a:pt x="13794380" y="13794381"/>
                </a:lnTo>
                <a:lnTo>
                  <a:pt x="1379438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4528055" y="3844246"/>
            <a:ext cx="8753571" cy="2784519"/>
          </a:xfrm>
          <a:prstGeom prst="rect">
            <a:avLst/>
          </a:prstGeom>
        </p:spPr>
        <p:txBody>
          <a:bodyPr anchor="t" rtlCol="false" tIns="0" lIns="0" bIns="0" rIns="0">
            <a:spAutoFit/>
          </a:bodyPr>
          <a:lstStyle/>
          <a:p>
            <a:pPr algn="l">
              <a:lnSpc>
                <a:spcPts val="5321"/>
              </a:lnSpc>
            </a:pPr>
            <a:r>
              <a:rPr lang="en-US" sz="6652" spc="-332" b="true">
                <a:solidFill>
                  <a:srgbClr val="D9D9E3"/>
                </a:solidFill>
                <a:latin typeface="Helvetica World Bold"/>
                <a:ea typeface="Helvetica World Bold"/>
                <a:cs typeface="Helvetica World Bold"/>
                <a:sym typeface="Helvetica World Bold"/>
              </a:rPr>
              <a:t>Sistem Manajemen Aset Kampus Berbasis Blockchain</a:t>
            </a:r>
          </a:p>
          <a:p>
            <a:pPr algn="l" marL="0" indent="0" lvl="0">
              <a:lnSpc>
                <a:spcPts val="5321"/>
              </a:lnSpc>
            </a:pPr>
          </a:p>
        </p:txBody>
      </p:sp>
      <p:sp>
        <p:nvSpPr>
          <p:cNvPr name="Freeform 6" id="6"/>
          <p:cNvSpPr/>
          <p:nvPr/>
        </p:nvSpPr>
        <p:spPr>
          <a:xfrm flipH="false" flipV="false" rot="0">
            <a:off x="13196798" y="4377729"/>
            <a:ext cx="990077" cy="991881"/>
          </a:xfrm>
          <a:custGeom>
            <a:avLst/>
            <a:gdLst/>
            <a:ahLst/>
            <a:cxnLst/>
            <a:rect r="r" b="b" t="t" l="l"/>
            <a:pathLst>
              <a:path h="991881" w="990077">
                <a:moveTo>
                  <a:pt x="0" y="0"/>
                </a:moveTo>
                <a:lnTo>
                  <a:pt x="990077" y="0"/>
                </a:lnTo>
                <a:lnTo>
                  <a:pt x="990077" y="991881"/>
                </a:lnTo>
                <a:lnTo>
                  <a:pt x="0" y="991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9023172" y="7823118"/>
            <a:ext cx="1555101" cy="155510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149352" y="0"/>
                  </a:moveTo>
                  <a:lnTo>
                    <a:pt x="663448" y="0"/>
                  </a:lnTo>
                  <a:cubicBezTo>
                    <a:pt x="703059" y="0"/>
                    <a:pt x="741047" y="15735"/>
                    <a:pt x="769056" y="43744"/>
                  </a:cubicBezTo>
                  <a:cubicBezTo>
                    <a:pt x="797065" y="71753"/>
                    <a:pt x="812800" y="109741"/>
                    <a:pt x="812800" y="149352"/>
                  </a:cubicBezTo>
                  <a:lnTo>
                    <a:pt x="812800" y="663448"/>
                  </a:lnTo>
                  <a:cubicBezTo>
                    <a:pt x="812800" y="703059"/>
                    <a:pt x="797065" y="741047"/>
                    <a:pt x="769056" y="769056"/>
                  </a:cubicBezTo>
                  <a:cubicBezTo>
                    <a:pt x="741047" y="797065"/>
                    <a:pt x="703059" y="812800"/>
                    <a:pt x="663448" y="812800"/>
                  </a:cubicBezTo>
                  <a:lnTo>
                    <a:pt x="149352" y="812800"/>
                  </a:lnTo>
                  <a:cubicBezTo>
                    <a:pt x="109741" y="812800"/>
                    <a:pt x="71753" y="797065"/>
                    <a:pt x="43744" y="769056"/>
                  </a:cubicBezTo>
                  <a:cubicBezTo>
                    <a:pt x="15735" y="741047"/>
                    <a:pt x="0" y="703059"/>
                    <a:pt x="0" y="663448"/>
                  </a:cubicBezTo>
                  <a:lnTo>
                    <a:pt x="0" y="149352"/>
                  </a:lnTo>
                  <a:cubicBezTo>
                    <a:pt x="0" y="109741"/>
                    <a:pt x="15735" y="71753"/>
                    <a:pt x="43744" y="43744"/>
                  </a:cubicBezTo>
                  <a:cubicBezTo>
                    <a:pt x="71753" y="15735"/>
                    <a:pt x="109741" y="0"/>
                    <a:pt x="149352" y="0"/>
                  </a:cubicBezTo>
                  <a:close/>
                </a:path>
              </a:pathLst>
            </a:custGeom>
            <a:solidFill>
              <a:srgbClr val="6178CE"/>
            </a:solidFill>
          </p:spPr>
        </p:sp>
        <p:sp>
          <p:nvSpPr>
            <p:cNvPr name="TextBox 9" id="9"/>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6177837" y="1142230"/>
            <a:ext cx="1560195" cy="156019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148864" y="0"/>
                  </a:moveTo>
                  <a:lnTo>
                    <a:pt x="663936" y="0"/>
                  </a:lnTo>
                  <a:cubicBezTo>
                    <a:pt x="746151" y="0"/>
                    <a:pt x="812800" y="66649"/>
                    <a:pt x="812800" y="148864"/>
                  </a:cubicBezTo>
                  <a:lnTo>
                    <a:pt x="812800" y="663936"/>
                  </a:lnTo>
                  <a:cubicBezTo>
                    <a:pt x="812800" y="746151"/>
                    <a:pt x="746151" y="812800"/>
                    <a:pt x="663936" y="812800"/>
                  </a:cubicBezTo>
                  <a:lnTo>
                    <a:pt x="148864" y="812800"/>
                  </a:lnTo>
                  <a:cubicBezTo>
                    <a:pt x="66649" y="812800"/>
                    <a:pt x="0" y="746151"/>
                    <a:pt x="0" y="663936"/>
                  </a:cubicBezTo>
                  <a:lnTo>
                    <a:pt x="0" y="148864"/>
                  </a:lnTo>
                  <a:cubicBezTo>
                    <a:pt x="0" y="66649"/>
                    <a:pt x="66649" y="0"/>
                    <a:pt x="148864" y="0"/>
                  </a:cubicBezTo>
                  <a:close/>
                </a:path>
              </a:pathLst>
            </a:custGeom>
            <a:solidFill>
              <a:srgbClr val="6178CE"/>
            </a:solidFill>
          </p:spPr>
        </p:sp>
        <p:sp>
          <p:nvSpPr>
            <p:cNvPr name="TextBox 12" id="12"/>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2688145" y="5832326"/>
            <a:ext cx="1412795" cy="141279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164396" y="0"/>
                  </a:moveTo>
                  <a:lnTo>
                    <a:pt x="648404" y="0"/>
                  </a:lnTo>
                  <a:cubicBezTo>
                    <a:pt x="692005" y="0"/>
                    <a:pt x="733819" y="17320"/>
                    <a:pt x="764650" y="48150"/>
                  </a:cubicBezTo>
                  <a:cubicBezTo>
                    <a:pt x="795480" y="78981"/>
                    <a:pt x="812800" y="120795"/>
                    <a:pt x="812800" y="164396"/>
                  </a:cubicBezTo>
                  <a:lnTo>
                    <a:pt x="812800" y="648404"/>
                  </a:lnTo>
                  <a:cubicBezTo>
                    <a:pt x="812800" y="692005"/>
                    <a:pt x="795480" y="733819"/>
                    <a:pt x="764650" y="764650"/>
                  </a:cubicBezTo>
                  <a:cubicBezTo>
                    <a:pt x="733819" y="795480"/>
                    <a:pt x="692005" y="812800"/>
                    <a:pt x="648404" y="812800"/>
                  </a:cubicBezTo>
                  <a:lnTo>
                    <a:pt x="164396" y="812800"/>
                  </a:lnTo>
                  <a:cubicBezTo>
                    <a:pt x="120795" y="812800"/>
                    <a:pt x="78981" y="795480"/>
                    <a:pt x="48150" y="764650"/>
                  </a:cubicBezTo>
                  <a:cubicBezTo>
                    <a:pt x="17320" y="733819"/>
                    <a:pt x="0" y="692005"/>
                    <a:pt x="0" y="648404"/>
                  </a:cubicBezTo>
                  <a:lnTo>
                    <a:pt x="0" y="164396"/>
                  </a:lnTo>
                  <a:cubicBezTo>
                    <a:pt x="0" y="120795"/>
                    <a:pt x="17320" y="78981"/>
                    <a:pt x="48150" y="48150"/>
                  </a:cubicBezTo>
                  <a:cubicBezTo>
                    <a:pt x="78981" y="17320"/>
                    <a:pt x="120795" y="0"/>
                    <a:pt x="164396" y="0"/>
                  </a:cubicBezTo>
                  <a:close/>
                </a:path>
              </a:pathLst>
            </a:custGeom>
            <a:solidFill>
              <a:srgbClr val="6178CE"/>
            </a:solidFill>
          </p:spPr>
        </p:sp>
        <p:sp>
          <p:nvSpPr>
            <p:cNvPr name="TextBox 15" id="15"/>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2786587" y="2702425"/>
            <a:ext cx="1400288" cy="140028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165864" y="0"/>
                  </a:moveTo>
                  <a:lnTo>
                    <a:pt x="646936" y="0"/>
                  </a:lnTo>
                  <a:cubicBezTo>
                    <a:pt x="738540" y="0"/>
                    <a:pt x="812800" y="74260"/>
                    <a:pt x="812800" y="165864"/>
                  </a:cubicBezTo>
                  <a:lnTo>
                    <a:pt x="812800" y="646936"/>
                  </a:lnTo>
                  <a:cubicBezTo>
                    <a:pt x="812800" y="738540"/>
                    <a:pt x="738540" y="812800"/>
                    <a:pt x="646936" y="812800"/>
                  </a:cubicBezTo>
                  <a:lnTo>
                    <a:pt x="165864" y="812800"/>
                  </a:lnTo>
                  <a:cubicBezTo>
                    <a:pt x="74260" y="812800"/>
                    <a:pt x="0" y="738540"/>
                    <a:pt x="0" y="646936"/>
                  </a:cubicBezTo>
                  <a:lnTo>
                    <a:pt x="0" y="165864"/>
                  </a:lnTo>
                  <a:cubicBezTo>
                    <a:pt x="0" y="74260"/>
                    <a:pt x="74260" y="0"/>
                    <a:pt x="165864" y="0"/>
                  </a:cubicBezTo>
                  <a:close/>
                </a:path>
              </a:pathLst>
            </a:custGeom>
            <a:solidFill>
              <a:srgbClr val="6178CE"/>
            </a:solidFill>
          </p:spPr>
        </p:sp>
        <p:sp>
          <p:nvSpPr>
            <p:cNvPr name="TextBox 18" id="18"/>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6377816" y="1442411"/>
            <a:ext cx="1160237" cy="959832"/>
          </a:xfrm>
          <a:custGeom>
            <a:avLst/>
            <a:gdLst/>
            <a:ahLst/>
            <a:cxnLst/>
            <a:rect r="r" b="b" t="t" l="l"/>
            <a:pathLst>
              <a:path h="959832" w="1160237">
                <a:moveTo>
                  <a:pt x="0" y="0"/>
                </a:moveTo>
                <a:lnTo>
                  <a:pt x="1160237" y="0"/>
                </a:lnTo>
                <a:lnTo>
                  <a:pt x="1160237" y="959832"/>
                </a:lnTo>
                <a:lnTo>
                  <a:pt x="0" y="95983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2935695" y="6022637"/>
            <a:ext cx="917695" cy="1032172"/>
          </a:xfrm>
          <a:custGeom>
            <a:avLst/>
            <a:gdLst/>
            <a:ahLst/>
            <a:cxnLst/>
            <a:rect r="r" b="b" t="t" l="l"/>
            <a:pathLst>
              <a:path h="1032172" w="917695">
                <a:moveTo>
                  <a:pt x="0" y="0"/>
                </a:moveTo>
                <a:lnTo>
                  <a:pt x="917694" y="0"/>
                </a:lnTo>
                <a:lnTo>
                  <a:pt x="917694" y="1032172"/>
                </a:lnTo>
                <a:lnTo>
                  <a:pt x="0" y="10321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0">
            <a:off x="9297832" y="8084882"/>
            <a:ext cx="1005782" cy="1031571"/>
          </a:xfrm>
          <a:custGeom>
            <a:avLst/>
            <a:gdLst/>
            <a:ahLst/>
            <a:cxnLst/>
            <a:rect r="r" b="b" t="t" l="l"/>
            <a:pathLst>
              <a:path h="1031571" w="1005782">
                <a:moveTo>
                  <a:pt x="0" y="0"/>
                </a:moveTo>
                <a:lnTo>
                  <a:pt x="1005782" y="0"/>
                </a:lnTo>
                <a:lnTo>
                  <a:pt x="1005782" y="1031572"/>
                </a:lnTo>
                <a:lnTo>
                  <a:pt x="0" y="103157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false" flipV="false" rot="0">
            <a:off x="13002895" y="2918733"/>
            <a:ext cx="967672" cy="967672"/>
          </a:xfrm>
          <a:custGeom>
            <a:avLst/>
            <a:gdLst/>
            <a:ahLst/>
            <a:cxnLst/>
            <a:rect r="r" b="b" t="t" l="l"/>
            <a:pathLst>
              <a:path h="967672" w="967672">
                <a:moveTo>
                  <a:pt x="0" y="0"/>
                </a:moveTo>
                <a:lnTo>
                  <a:pt x="967672" y="0"/>
                </a:lnTo>
                <a:lnTo>
                  <a:pt x="967672" y="967672"/>
                </a:lnTo>
                <a:lnTo>
                  <a:pt x="0" y="96767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3" id="23"/>
          <p:cNvSpPr txBox="true"/>
          <p:nvPr/>
        </p:nvSpPr>
        <p:spPr>
          <a:xfrm rot="0">
            <a:off x="4584084" y="6079787"/>
            <a:ext cx="5719529" cy="821149"/>
          </a:xfrm>
          <a:prstGeom prst="rect">
            <a:avLst/>
          </a:prstGeom>
        </p:spPr>
        <p:txBody>
          <a:bodyPr anchor="t" rtlCol="false" tIns="0" lIns="0" bIns="0" rIns="0">
            <a:spAutoFit/>
          </a:bodyPr>
          <a:lstStyle/>
          <a:p>
            <a:pPr algn="l">
              <a:lnSpc>
                <a:spcPts val="3149"/>
              </a:lnSpc>
            </a:pPr>
            <a:r>
              <a:rPr lang="en-US" sz="3149" spc="-78">
                <a:solidFill>
                  <a:srgbClr val="D9D9E3"/>
                </a:solidFill>
                <a:latin typeface="Bricolage Grotesque"/>
                <a:ea typeface="Bricolage Grotesque"/>
                <a:cs typeface="Bricolage Grotesque"/>
                <a:sym typeface="Bricolage Grotesque"/>
              </a:rPr>
              <a:t>Dosen Pengampu: </a:t>
            </a:r>
          </a:p>
          <a:p>
            <a:pPr algn="l" marL="0" indent="0" lvl="0">
              <a:lnSpc>
                <a:spcPts val="3149"/>
              </a:lnSpc>
            </a:pPr>
            <a:r>
              <a:rPr lang="en-US" sz="3149" spc="-78">
                <a:solidFill>
                  <a:srgbClr val="D9D9E3"/>
                </a:solidFill>
                <a:latin typeface="Bricolage Grotesque"/>
                <a:ea typeface="Bricolage Grotesque"/>
                <a:cs typeface="Bricolage Grotesque"/>
                <a:sym typeface="Bricolage Grotesque"/>
              </a:rPr>
              <a:t>Riani Saputri Abadi, ST., M.Kom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Freeform 2" id="2"/>
          <p:cNvSpPr/>
          <p:nvPr/>
        </p:nvSpPr>
        <p:spPr>
          <a:xfrm flipH="false" flipV="false" rot="0">
            <a:off x="343474" y="372153"/>
            <a:ext cx="3390536" cy="3390536"/>
          </a:xfrm>
          <a:custGeom>
            <a:avLst/>
            <a:gdLst/>
            <a:ahLst/>
            <a:cxnLst/>
            <a:rect r="r" b="b" t="t" l="l"/>
            <a:pathLst>
              <a:path h="3390536" w="3390536">
                <a:moveTo>
                  <a:pt x="0" y="0"/>
                </a:moveTo>
                <a:lnTo>
                  <a:pt x="3390536" y="0"/>
                </a:lnTo>
                <a:lnTo>
                  <a:pt x="3390536" y="3390536"/>
                </a:lnTo>
                <a:lnTo>
                  <a:pt x="0" y="33905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732482" y="978689"/>
            <a:ext cx="8823036" cy="970194"/>
          </a:xfrm>
          <a:prstGeom prst="rect">
            <a:avLst/>
          </a:prstGeom>
        </p:spPr>
        <p:txBody>
          <a:bodyPr anchor="t" rtlCol="false" tIns="0" lIns="0" bIns="0" rIns="0">
            <a:spAutoFit/>
          </a:bodyPr>
          <a:lstStyle/>
          <a:p>
            <a:pPr algn="l" marL="0" indent="0" lvl="0">
              <a:lnSpc>
                <a:spcPts val="5849"/>
              </a:lnSpc>
            </a:pPr>
            <a:r>
              <a:rPr lang="en-US" b="true" sz="7905" spc="-395">
                <a:solidFill>
                  <a:srgbClr val="D9D9E3"/>
                </a:solidFill>
                <a:latin typeface="Helvetica World Bold"/>
                <a:ea typeface="Helvetica World Bold"/>
                <a:cs typeface="Helvetica World Bold"/>
                <a:sym typeface="Helvetica World Bold"/>
              </a:rPr>
              <a:t>Anggota kelompok:</a:t>
            </a:r>
          </a:p>
        </p:txBody>
      </p:sp>
      <p:sp>
        <p:nvSpPr>
          <p:cNvPr name="TextBox 4" id="4"/>
          <p:cNvSpPr txBox="true"/>
          <p:nvPr/>
        </p:nvSpPr>
        <p:spPr>
          <a:xfrm rot="0">
            <a:off x="4425120" y="2000746"/>
            <a:ext cx="7656477" cy="2880107"/>
          </a:xfrm>
          <a:prstGeom prst="rect">
            <a:avLst/>
          </a:prstGeom>
        </p:spPr>
        <p:txBody>
          <a:bodyPr anchor="t" rtlCol="false" tIns="0" lIns="0" bIns="0" rIns="0">
            <a:spAutoFit/>
          </a:bodyPr>
          <a:lstStyle/>
          <a:p>
            <a:pPr algn="l" marL="709719" indent="-354860" lvl="1">
              <a:lnSpc>
                <a:spcPts val="4602"/>
              </a:lnSpc>
              <a:buFont typeface="Arial"/>
              <a:buChar char="•"/>
            </a:pPr>
            <a:r>
              <a:rPr lang="en-US" sz="3287">
                <a:solidFill>
                  <a:srgbClr val="D9D9D9"/>
                </a:solidFill>
                <a:latin typeface="Canva Sans"/>
                <a:ea typeface="Canva Sans"/>
                <a:cs typeface="Canva Sans"/>
                <a:sym typeface="Canva Sans"/>
              </a:rPr>
              <a:t>Rafihans Argani Islami 202332019</a:t>
            </a:r>
          </a:p>
          <a:p>
            <a:pPr algn="l" marL="709719" indent="-354860" lvl="1">
              <a:lnSpc>
                <a:spcPts val="4602"/>
              </a:lnSpc>
              <a:buFont typeface="Arial"/>
              <a:buChar char="•"/>
            </a:pPr>
            <a:r>
              <a:rPr lang="en-US" sz="3287">
                <a:solidFill>
                  <a:srgbClr val="D9D9D9"/>
                </a:solidFill>
                <a:latin typeface="Canva Sans"/>
                <a:ea typeface="Canva Sans"/>
                <a:cs typeface="Canva Sans"/>
                <a:sym typeface="Canva Sans"/>
              </a:rPr>
              <a:t>Yoga Abdilah 202332023</a:t>
            </a:r>
          </a:p>
          <a:p>
            <a:pPr algn="l" marL="709719" indent="-354860" lvl="1">
              <a:lnSpc>
                <a:spcPts val="4602"/>
              </a:lnSpc>
              <a:buFont typeface="Arial"/>
              <a:buChar char="•"/>
            </a:pPr>
            <a:r>
              <a:rPr lang="en-US" sz="3287">
                <a:solidFill>
                  <a:srgbClr val="D9D9D9"/>
                </a:solidFill>
                <a:latin typeface="Canva Sans"/>
                <a:ea typeface="Canva Sans"/>
                <a:cs typeface="Canva Sans"/>
                <a:sym typeface="Canva Sans"/>
              </a:rPr>
              <a:t>Raditya Putra Dewanto 202332024</a:t>
            </a:r>
          </a:p>
          <a:p>
            <a:pPr algn="l" marL="709719" indent="-354860" lvl="1">
              <a:lnSpc>
                <a:spcPts val="4602"/>
              </a:lnSpc>
              <a:buFont typeface="Arial"/>
              <a:buChar char="•"/>
            </a:pPr>
            <a:r>
              <a:rPr lang="en-US" sz="3287">
                <a:solidFill>
                  <a:srgbClr val="D9D9D9"/>
                </a:solidFill>
                <a:latin typeface="Canva Sans"/>
                <a:ea typeface="Canva Sans"/>
                <a:cs typeface="Canva Sans"/>
                <a:sym typeface="Canva Sans"/>
              </a:rPr>
              <a:t>Violetta Jingga 202332028</a:t>
            </a:r>
          </a:p>
          <a:p>
            <a:pPr algn="l">
              <a:lnSpc>
                <a:spcPts val="4602"/>
              </a:lnSpc>
              <a:spcBef>
                <a:spcPct val="0"/>
              </a:spcBef>
            </a:pPr>
          </a:p>
        </p:txBody>
      </p:sp>
      <p:sp>
        <p:nvSpPr>
          <p:cNvPr name="Freeform 5" id="5"/>
          <p:cNvSpPr/>
          <p:nvPr/>
        </p:nvSpPr>
        <p:spPr>
          <a:xfrm flipH="true" flipV="false" rot="0">
            <a:off x="7289685" y="-744211"/>
            <a:ext cx="13794380" cy="13794380"/>
          </a:xfrm>
          <a:custGeom>
            <a:avLst/>
            <a:gdLst/>
            <a:ahLst/>
            <a:cxnLst/>
            <a:rect r="r" b="b" t="t" l="l"/>
            <a:pathLst>
              <a:path h="13794380" w="13794380">
                <a:moveTo>
                  <a:pt x="13794380" y="0"/>
                </a:moveTo>
                <a:lnTo>
                  <a:pt x="0" y="0"/>
                </a:lnTo>
                <a:lnTo>
                  <a:pt x="0" y="13794380"/>
                </a:lnTo>
                <a:lnTo>
                  <a:pt x="13794380" y="13794380"/>
                </a:lnTo>
                <a:lnTo>
                  <a:pt x="1379438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910107" y="-169732"/>
            <a:ext cx="14467786" cy="8312400"/>
          </a:xfrm>
          <a:custGeom>
            <a:avLst/>
            <a:gdLst/>
            <a:ahLst/>
            <a:cxnLst/>
            <a:rect r="r" b="b" t="t" l="l"/>
            <a:pathLst>
              <a:path h="8312400" w="14467786">
                <a:moveTo>
                  <a:pt x="0" y="0"/>
                </a:moveTo>
                <a:lnTo>
                  <a:pt x="14467786" y="0"/>
                </a:lnTo>
                <a:lnTo>
                  <a:pt x="14467786" y="8312400"/>
                </a:lnTo>
                <a:lnTo>
                  <a:pt x="0" y="8312400"/>
                </a:lnTo>
                <a:lnTo>
                  <a:pt x="0" y="0"/>
                </a:lnTo>
                <a:close/>
              </a:path>
            </a:pathLst>
          </a:custGeom>
          <a:blipFill>
            <a:blip r:embed="rId6">
              <a:alphaModFix amt="15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TextBox 2" id="2"/>
          <p:cNvSpPr txBox="true"/>
          <p:nvPr/>
        </p:nvSpPr>
        <p:spPr>
          <a:xfrm rot="0">
            <a:off x="2212560" y="1030432"/>
            <a:ext cx="8823036" cy="968195"/>
          </a:xfrm>
          <a:prstGeom prst="rect">
            <a:avLst/>
          </a:prstGeom>
        </p:spPr>
        <p:txBody>
          <a:bodyPr anchor="t" rtlCol="false" tIns="0" lIns="0" bIns="0" rIns="0">
            <a:spAutoFit/>
          </a:bodyPr>
          <a:lstStyle/>
          <a:p>
            <a:pPr algn="l" marL="0" indent="0" lvl="0">
              <a:lnSpc>
                <a:spcPts val="5849"/>
              </a:lnSpc>
            </a:pPr>
            <a:r>
              <a:rPr lang="en-US" b="true" sz="7905" spc="-395">
                <a:solidFill>
                  <a:srgbClr val="D9D9E3"/>
                </a:solidFill>
                <a:latin typeface="Helvetica World Bold"/>
                <a:ea typeface="Helvetica World Bold"/>
                <a:cs typeface="Helvetica World Bold"/>
                <a:sym typeface="Helvetica World Bold"/>
              </a:rPr>
              <a:t>Latar Belakang</a:t>
            </a:r>
          </a:p>
        </p:txBody>
      </p:sp>
      <p:sp>
        <p:nvSpPr>
          <p:cNvPr name="TextBox 3" id="3"/>
          <p:cNvSpPr txBox="true"/>
          <p:nvPr/>
        </p:nvSpPr>
        <p:spPr>
          <a:xfrm rot="0">
            <a:off x="1520563" y="1931952"/>
            <a:ext cx="16075440" cy="5777035"/>
          </a:xfrm>
          <a:prstGeom prst="rect">
            <a:avLst/>
          </a:prstGeom>
        </p:spPr>
        <p:txBody>
          <a:bodyPr anchor="t" rtlCol="false" tIns="0" lIns="0" bIns="0" rIns="0">
            <a:spAutoFit/>
          </a:bodyPr>
          <a:lstStyle/>
          <a:p>
            <a:pPr algn="l">
              <a:lnSpc>
                <a:spcPts val="4602"/>
              </a:lnSpc>
              <a:spcBef>
                <a:spcPct val="0"/>
              </a:spcBef>
            </a:pPr>
            <a:r>
              <a:rPr lang="en-US" sz="3287">
                <a:solidFill>
                  <a:srgbClr val="D9D9D9"/>
                </a:solidFill>
                <a:latin typeface="Canva Sans"/>
                <a:ea typeface="Canva Sans"/>
                <a:cs typeface="Canva Sans"/>
                <a:sym typeface="Canva Sans"/>
              </a:rPr>
              <a:t>Manajemen aset kampus saat ini masih manual sehingga rentan manipulasi dan tidak </a:t>
            </a:r>
            <a:r>
              <a:rPr lang="en-US" sz="3287">
                <a:solidFill>
                  <a:srgbClr val="D9D9D9"/>
                </a:solidFill>
                <a:latin typeface="Canva Sans"/>
                <a:ea typeface="Canva Sans"/>
                <a:cs typeface="Canva Sans"/>
                <a:sym typeface="Canva Sans"/>
              </a:rPr>
              <a:t>transparan. Kondisi ini menyulitkan pelacakan tanggung jawab penggunaan aset organisasi mahasiswa. Teknologi blockchain hadir sebagai solusi melalui pencatatan terdesentralisasi yang bersifat permanen. Implementasi smart contract akan mengotomatisasi aturan peminjaman untuk menghilangkan birokrasi yang lambat. Integrasi ini mentransformasi pengelolaan aset menjadi sistem yang kredibel dan efisien..</a:t>
            </a:r>
          </a:p>
        </p:txBody>
      </p:sp>
      <p:sp>
        <p:nvSpPr>
          <p:cNvPr name="Freeform 4" id="4"/>
          <p:cNvSpPr/>
          <p:nvPr/>
        </p:nvSpPr>
        <p:spPr>
          <a:xfrm flipH="true" flipV="false" rot="0">
            <a:off x="11827341" y="3389810"/>
            <a:ext cx="13794380" cy="13794380"/>
          </a:xfrm>
          <a:custGeom>
            <a:avLst/>
            <a:gdLst/>
            <a:ahLst/>
            <a:cxnLst/>
            <a:rect r="r" b="b" t="t" l="l"/>
            <a:pathLst>
              <a:path h="13794380" w="13794380">
                <a:moveTo>
                  <a:pt x="13794380" y="0"/>
                </a:moveTo>
                <a:lnTo>
                  <a:pt x="0" y="0"/>
                </a:lnTo>
                <a:lnTo>
                  <a:pt x="0" y="13794380"/>
                </a:lnTo>
                <a:lnTo>
                  <a:pt x="13794380" y="13794380"/>
                </a:lnTo>
                <a:lnTo>
                  <a:pt x="1379438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343079"/>
            <a:ext cx="14467786" cy="8312400"/>
          </a:xfrm>
          <a:custGeom>
            <a:avLst/>
            <a:gdLst/>
            <a:ahLst/>
            <a:cxnLst/>
            <a:rect r="r" b="b" t="t" l="l"/>
            <a:pathLst>
              <a:path h="8312400" w="14467786">
                <a:moveTo>
                  <a:pt x="0" y="0"/>
                </a:moveTo>
                <a:lnTo>
                  <a:pt x="14467786" y="0"/>
                </a:lnTo>
                <a:lnTo>
                  <a:pt x="14467786" y="8312401"/>
                </a:lnTo>
                <a:lnTo>
                  <a:pt x="0" y="8312401"/>
                </a:lnTo>
                <a:lnTo>
                  <a:pt x="0" y="0"/>
                </a:lnTo>
                <a:close/>
              </a:path>
            </a:pathLst>
          </a:custGeom>
          <a:blipFill>
            <a:blip r:embed="rId4">
              <a:alphaModFix amt="15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Freeform 2" id="2"/>
          <p:cNvSpPr/>
          <p:nvPr/>
        </p:nvSpPr>
        <p:spPr>
          <a:xfrm flipH="false" flipV="false" rot="0">
            <a:off x="-1819221" y="882053"/>
            <a:ext cx="14467786" cy="8312400"/>
          </a:xfrm>
          <a:custGeom>
            <a:avLst/>
            <a:gdLst/>
            <a:ahLst/>
            <a:cxnLst/>
            <a:rect r="r" b="b" t="t" l="l"/>
            <a:pathLst>
              <a:path h="8312400" w="14467786">
                <a:moveTo>
                  <a:pt x="0" y="0"/>
                </a:moveTo>
                <a:lnTo>
                  <a:pt x="14467786" y="0"/>
                </a:lnTo>
                <a:lnTo>
                  <a:pt x="14467786" y="8312400"/>
                </a:lnTo>
                <a:lnTo>
                  <a:pt x="0" y="83124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742176" y="-536028"/>
            <a:ext cx="13794380" cy="13794380"/>
          </a:xfrm>
          <a:custGeom>
            <a:avLst/>
            <a:gdLst/>
            <a:ahLst/>
            <a:cxnLst/>
            <a:rect r="r" b="b" t="t" l="l"/>
            <a:pathLst>
              <a:path h="13794380" w="13794380">
                <a:moveTo>
                  <a:pt x="13794380" y="0"/>
                </a:moveTo>
                <a:lnTo>
                  <a:pt x="0" y="0"/>
                </a:lnTo>
                <a:lnTo>
                  <a:pt x="0" y="13794380"/>
                </a:lnTo>
                <a:lnTo>
                  <a:pt x="13794380" y="13794380"/>
                </a:lnTo>
                <a:lnTo>
                  <a:pt x="1379438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479018" y="532124"/>
            <a:ext cx="5879200" cy="10837236"/>
          </a:xfrm>
          <a:custGeom>
            <a:avLst/>
            <a:gdLst/>
            <a:ahLst/>
            <a:cxnLst/>
            <a:rect r="r" b="b" t="t" l="l"/>
            <a:pathLst>
              <a:path h="10837236" w="5879200">
                <a:moveTo>
                  <a:pt x="0" y="0"/>
                </a:moveTo>
                <a:lnTo>
                  <a:pt x="5879200" y="0"/>
                </a:lnTo>
                <a:lnTo>
                  <a:pt x="5879200" y="10837236"/>
                </a:lnTo>
                <a:lnTo>
                  <a:pt x="0" y="108372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7257104" y="3313879"/>
            <a:ext cx="2435022" cy="771146"/>
            <a:chOff x="0" y="0"/>
            <a:chExt cx="641323" cy="203100"/>
          </a:xfrm>
        </p:grpSpPr>
        <p:sp>
          <p:nvSpPr>
            <p:cNvPr name="Freeform 6" id="6"/>
            <p:cNvSpPr/>
            <p:nvPr/>
          </p:nvSpPr>
          <p:spPr>
            <a:xfrm flipH="false" flipV="false" rot="0">
              <a:off x="0" y="0"/>
              <a:ext cx="641323" cy="203100"/>
            </a:xfrm>
            <a:custGeom>
              <a:avLst/>
              <a:gdLst/>
              <a:ahLst/>
              <a:cxnLst/>
              <a:rect r="r" b="b" t="t" l="l"/>
              <a:pathLst>
                <a:path h="203100" w="641323">
                  <a:moveTo>
                    <a:pt x="69947" y="0"/>
                  </a:moveTo>
                  <a:lnTo>
                    <a:pt x="571376" y="0"/>
                  </a:lnTo>
                  <a:cubicBezTo>
                    <a:pt x="589927" y="0"/>
                    <a:pt x="607718" y="7369"/>
                    <a:pt x="620836" y="20487"/>
                  </a:cubicBezTo>
                  <a:cubicBezTo>
                    <a:pt x="633953" y="33605"/>
                    <a:pt x="641323" y="51396"/>
                    <a:pt x="641323" y="69947"/>
                  </a:cubicBezTo>
                  <a:lnTo>
                    <a:pt x="641323" y="133153"/>
                  </a:lnTo>
                  <a:cubicBezTo>
                    <a:pt x="641323" y="151704"/>
                    <a:pt x="633953" y="169496"/>
                    <a:pt x="620836" y="182613"/>
                  </a:cubicBezTo>
                  <a:cubicBezTo>
                    <a:pt x="607718" y="195731"/>
                    <a:pt x="589927" y="203100"/>
                    <a:pt x="571376" y="203100"/>
                  </a:cubicBezTo>
                  <a:lnTo>
                    <a:pt x="69947" y="203100"/>
                  </a:lnTo>
                  <a:cubicBezTo>
                    <a:pt x="51396" y="203100"/>
                    <a:pt x="33605" y="195731"/>
                    <a:pt x="20487" y="182613"/>
                  </a:cubicBezTo>
                  <a:cubicBezTo>
                    <a:pt x="7369" y="169496"/>
                    <a:pt x="0" y="151704"/>
                    <a:pt x="0" y="133153"/>
                  </a:cubicBezTo>
                  <a:lnTo>
                    <a:pt x="0" y="69947"/>
                  </a:lnTo>
                  <a:cubicBezTo>
                    <a:pt x="0" y="51396"/>
                    <a:pt x="7369" y="33605"/>
                    <a:pt x="20487" y="20487"/>
                  </a:cubicBezTo>
                  <a:cubicBezTo>
                    <a:pt x="33605" y="7369"/>
                    <a:pt x="51396" y="0"/>
                    <a:pt x="69947" y="0"/>
                  </a:cubicBezTo>
                  <a:close/>
                </a:path>
              </a:pathLst>
            </a:custGeom>
            <a:ln w="38100" cap="rnd">
              <a:solidFill>
                <a:srgbClr val="6178CE"/>
              </a:solidFill>
              <a:prstDash val="solid"/>
              <a:round/>
            </a:ln>
          </p:spPr>
        </p:sp>
        <p:sp>
          <p:nvSpPr>
            <p:cNvPr name="TextBox 7" id="7"/>
            <p:cNvSpPr txBox="true"/>
            <p:nvPr/>
          </p:nvSpPr>
          <p:spPr>
            <a:xfrm>
              <a:off x="0" y="-38100"/>
              <a:ext cx="641323" cy="2412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534580" y="484645"/>
            <a:ext cx="8609420" cy="3038711"/>
          </a:xfrm>
          <a:prstGeom prst="rect">
            <a:avLst/>
          </a:prstGeom>
        </p:spPr>
        <p:txBody>
          <a:bodyPr anchor="t" rtlCol="false" tIns="0" lIns="0" bIns="0" rIns="0">
            <a:spAutoFit/>
          </a:bodyPr>
          <a:lstStyle/>
          <a:p>
            <a:pPr algn="l">
              <a:lnSpc>
                <a:spcPts val="5809"/>
              </a:lnSpc>
            </a:pPr>
            <a:r>
              <a:rPr lang="en-US" sz="7850" spc="-392" b="true">
                <a:solidFill>
                  <a:srgbClr val="D9D9E3"/>
                </a:solidFill>
                <a:latin typeface="Helvetica World Bold"/>
                <a:ea typeface="Helvetica World Bold"/>
                <a:cs typeface="Helvetica World Bold"/>
                <a:sym typeface="Helvetica World Bold"/>
              </a:rPr>
              <a:t>Urgensi Transformasi Digital Aset</a:t>
            </a:r>
          </a:p>
          <a:p>
            <a:pPr algn="l" marL="0" indent="0" lvl="0">
              <a:lnSpc>
                <a:spcPts val="5809"/>
              </a:lnSpc>
            </a:pPr>
          </a:p>
        </p:txBody>
      </p:sp>
      <p:grpSp>
        <p:nvGrpSpPr>
          <p:cNvPr name="Group 9" id="9"/>
          <p:cNvGrpSpPr/>
          <p:nvPr/>
        </p:nvGrpSpPr>
        <p:grpSpPr>
          <a:xfrm rot="0">
            <a:off x="16170985" y="807550"/>
            <a:ext cx="1327717" cy="132771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174930" y="0"/>
                  </a:moveTo>
                  <a:lnTo>
                    <a:pt x="637870" y="0"/>
                  </a:lnTo>
                  <a:cubicBezTo>
                    <a:pt x="734481" y="0"/>
                    <a:pt x="812800" y="78319"/>
                    <a:pt x="812800" y="174930"/>
                  </a:cubicBezTo>
                  <a:lnTo>
                    <a:pt x="812800" y="637870"/>
                  </a:lnTo>
                  <a:cubicBezTo>
                    <a:pt x="812800" y="734481"/>
                    <a:pt x="734481" y="812800"/>
                    <a:pt x="637870" y="812800"/>
                  </a:cubicBezTo>
                  <a:lnTo>
                    <a:pt x="174930" y="812800"/>
                  </a:lnTo>
                  <a:cubicBezTo>
                    <a:pt x="78319" y="812800"/>
                    <a:pt x="0" y="734481"/>
                    <a:pt x="0" y="637870"/>
                  </a:cubicBezTo>
                  <a:lnTo>
                    <a:pt x="0" y="174930"/>
                  </a:lnTo>
                  <a:cubicBezTo>
                    <a:pt x="0" y="78319"/>
                    <a:pt x="78319" y="0"/>
                    <a:pt x="174930" y="0"/>
                  </a:cubicBezTo>
                  <a:close/>
                </a:path>
              </a:pathLst>
            </a:custGeom>
            <a:solidFill>
              <a:srgbClr val="6178CE"/>
            </a:solidFill>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6405484" y="1031040"/>
            <a:ext cx="858719" cy="880737"/>
          </a:xfrm>
          <a:custGeom>
            <a:avLst/>
            <a:gdLst/>
            <a:ahLst/>
            <a:cxnLst/>
            <a:rect r="r" b="b" t="t" l="l"/>
            <a:pathLst>
              <a:path h="880737" w="858719">
                <a:moveTo>
                  <a:pt x="0" y="0"/>
                </a:moveTo>
                <a:lnTo>
                  <a:pt x="858719" y="0"/>
                </a:lnTo>
                <a:lnTo>
                  <a:pt x="858719" y="880737"/>
                </a:lnTo>
                <a:lnTo>
                  <a:pt x="0" y="8807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8325864" y="4454248"/>
            <a:ext cx="687023" cy="772725"/>
          </a:xfrm>
          <a:custGeom>
            <a:avLst/>
            <a:gdLst/>
            <a:ahLst/>
            <a:cxnLst/>
            <a:rect r="r" b="b" t="t" l="l"/>
            <a:pathLst>
              <a:path h="772725" w="687023">
                <a:moveTo>
                  <a:pt x="0" y="0"/>
                </a:moveTo>
                <a:lnTo>
                  <a:pt x="687023" y="0"/>
                </a:lnTo>
                <a:lnTo>
                  <a:pt x="687023" y="772726"/>
                </a:lnTo>
                <a:lnTo>
                  <a:pt x="0" y="7727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872068" y="4020204"/>
            <a:ext cx="5259938" cy="2057500"/>
            <a:chOff x="0" y="0"/>
            <a:chExt cx="1451991" cy="567924"/>
          </a:xfrm>
        </p:grpSpPr>
        <p:sp>
          <p:nvSpPr>
            <p:cNvPr name="Freeform 15" id="15"/>
            <p:cNvSpPr/>
            <p:nvPr/>
          </p:nvSpPr>
          <p:spPr>
            <a:xfrm flipH="false" flipV="false" rot="0">
              <a:off x="0" y="0"/>
              <a:ext cx="1451991" cy="567924"/>
            </a:xfrm>
            <a:custGeom>
              <a:avLst/>
              <a:gdLst/>
              <a:ahLst/>
              <a:cxnLst/>
              <a:rect r="r" b="b" t="t" l="l"/>
              <a:pathLst>
                <a:path h="567924" w="1451991">
                  <a:moveTo>
                    <a:pt x="1451991" y="89784"/>
                  </a:moveTo>
                  <a:lnTo>
                    <a:pt x="1451991" y="478140"/>
                  </a:lnTo>
                  <a:cubicBezTo>
                    <a:pt x="1451991" y="501952"/>
                    <a:pt x="1442532" y="524789"/>
                    <a:pt x="1425694" y="541627"/>
                  </a:cubicBezTo>
                  <a:cubicBezTo>
                    <a:pt x="1408856" y="558464"/>
                    <a:pt x="1386019" y="567924"/>
                    <a:pt x="1362207" y="567924"/>
                  </a:cubicBezTo>
                  <a:lnTo>
                    <a:pt x="89784" y="567924"/>
                  </a:lnTo>
                  <a:cubicBezTo>
                    <a:pt x="40198" y="567924"/>
                    <a:pt x="0" y="527726"/>
                    <a:pt x="0" y="478140"/>
                  </a:cubicBezTo>
                  <a:lnTo>
                    <a:pt x="0" y="89784"/>
                  </a:lnTo>
                  <a:cubicBezTo>
                    <a:pt x="0" y="65972"/>
                    <a:pt x="9459" y="43135"/>
                    <a:pt x="26297" y="26297"/>
                  </a:cubicBezTo>
                  <a:cubicBezTo>
                    <a:pt x="43135" y="9459"/>
                    <a:pt x="65972" y="0"/>
                    <a:pt x="89784" y="0"/>
                  </a:cubicBezTo>
                  <a:lnTo>
                    <a:pt x="1362207" y="0"/>
                  </a:lnTo>
                  <a:cubicBezTo>
                    <a:pt x="1386019" y="0"/>
                    <a:pt x="1408856" y="9459"/>
                    <a:pt x="1425694" y="26297"/>
                  </a:cubicBezTo>
                  <a:cubicBezTo>
                    <a:pt x="1442532" y="43135"/>
                    <a:pt x="1451991" y="65972"/>
                    <a:pt x="1451991" y="89784"/>
                  </a:cubicBezTo>
                  <a:close/>
                </a:path>
              </a:pathLst>
            </a:custGeom>
            <a:solidFill>
              <a:srgbClr val="6178CE"/>
            </a:solidFill>
          </p:spPr>
        </p:sp>
        <p:sp>
          <p:nvSpPr>
            <p:cNvPr name="TextBox 16" id="16"/>
            <p:cNvSpPr txBox="true"/>
            <p:nvPr/>
          </p:nvSpPr>
          <p:spPr>
            <a:xfrm>
              <a:off x="0" y="-38100"/>
              <a:ext cx="1451991" cy="606024"/>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7503100" y="3504306"/>
            <a:ext cx="2056107" cy="371242"/>
          </a:xfrm>
          <a:prstGeom prst="rect">
            <a:avLst/>
          </a:prstGeom>
        </p:spPr>
        <p:txBody>
          <a:bodyPr anchor="t" rtlCol="false" tIns="0" lIns="0" bIns="0" rIns="0">
            <a:spAutoFit/>
          </a:bodyPr>
          <a:lstStyle/>
          <a:p>
            <a:pPr algn="ctr" marL="0" indent="0" lvl="0">
              <a:lnSpc>
                <a:spcPts val="2994"/>
              </a:lnSpc>
            </a:pPr>
            <a:r>
              <a:rPr lang="en-US" sz="2357" spc="-58">
                <a:solidFill>
                  <a:srgbClr val="6178CE"/>
                </a:solidFill>
                <a:latin typeface="Bricolage Grotesque"/>
                <a:ea typeface="Bricolage Grotesque"/>
                <a:cs typeface="Bricolage Grotesque"/>
                <a:sym typeface="Bricolage Grotesque"/>
              </a:rPr>
              <a:t>Selanjutnya!</a:t>
            </a:r>
          </a:p>
        </p:txBody>
      </p:sp>
      <p:sp>
        <p:nvSpPr>
          <p:cNvPr name="TextBox 18" id="18"/>
          <p:cNvSpPr txBox="true"/>
          <p:nvPr/>
        </p:nvSpPr>
        <p:spPr>
          <a:xfrm rot="0">
            <a:off x="1026288" y="4190246"/>
            <a:ext cx="4951498" cy="1887458"/>
          </a:xfrm>
          <a:prstGeom prst="rect">
            <a:avLst/>
          </a:prstGeom>
        </p:spPr>
        <p:txBody>
          <a:bodyPr anchor="t" rtlCol="false" tIns="0" lIns="0" bIns="0" rIns="0">
            <a:spAutoFit/>
          </a:bodyPr>
          <a:lstStyle/>
          <a:p>
            <a:pPr algn="just">
              <a:lnSpc>
                <a:spcPts val="2506"/>
              </a:lnSpc>
            </a:pPr>
            <a:r>
              <a:rPr lang="en-US" b="true" sz="1973" spc="-49">
                <a:solidFill>
                  <a:srgbClr val="D9D9E3"/>
                </a:solidFill>
                <a:latin typeface="Bricolage Grotesque Bold"/>
                <a:ea typeface="Bricolage Grotesque Bold"/>
                <a:cs typeface="Bricolage Grotesque Bold"/>
                <a:sym typeface="Bricolage Grotesque Bold"/>
              </a:rPr>
              <a:t>Kurangnya Transparansi:</a:t>
            </a:r>
          </a:p>
          <a:p>
            <a:pPr algn="just">
              <a:lnSpc>
                <a:spcPts val="2506"/>
              </a:lnSpc>
            </a:pPr>
            <a:r>
              <a:rPr lang="en-US" b="true" sz="1973" spc="-49">
                <a:solidFill>
                  <a:srgbClr val="D9D9E3"/>
                </a:solidFill>
                <a:latin typeface="Bricolage Grotesque Bold"/>
                <a:ea typeface="Bricolage Grotesque Bold"/>
                <a:cs typeface="Bricolage Grotesque Bold"/>
                <a:sym typeface="Bricolage Grotesque Bold"/>
              </a:rPr>
              <a:t>Sulit melacak status aset secara real-time dan mengetahui penanggung jawab penggunaan, sehingga akuntabilitas dalam organisasi mahasiswa menjadi rendah</a:t>
            </a:r>
          </a:p>
          <a:p>
            <a:pPr algn="just" marL="0" indent="0" lvl="0">
              <a:lnSpc>
                <a:spcPts val="2506"/>
              </a:lnSpc>
            </a:pPr>
          </a:p>
        </p:txBody>
      </p:sp>
      <p:grpSp>
        <p:nvGrpSpPr>
          <p:cNvPr name="Group 19" id="19"/>
          <p:cNvGrpSpPr/>
          <p:nvPr/>
        </p:nvGrpSpPr>
        <p:grpSpPr>
          <a:xfrm rot="0">
            <a:off x="4299268" y="6220579"/>
            <a:ext cx="5259938" cy="2057500"/>
            <a:chOff x="0" y="0"/>
            <a:chExt cx="1451991" cy="567924"/>
          </a:xfrm>
        </p:grpSpPr>
        <p:sp>
          <p:nvSpPr>
            <p:cNvPr name="Freeform 20" id="20"/>
            <p:cNvSpPr/>
            <p:nvPr/>
          </p:nvSpPr>
          <p:spPr>
            <a:xfrm flipH="false" flipV="false" rot="0">
              <a:off x="0" y="0"/>
              <a:ext cx="1451991" cy="567924"/>
            </a:xfrm>
            <a:custGeom>
              <a:avLst/>
              <a:gdLst/>
              <a:ahLst/>
              <a:cxnLst/>
              <a:rect r="r" b="b" t="t" l="l"/>
              <a:pathLst>
                <a:path h="567924" w="1451991">
                  <a:moveTo>
                    <a:pt x="1451991" y="89784"/>
                  </a:moveTo>
                  <a:lnTo>
                    <a:pt x="1451991" y="478140"/>
                  </a:lnTo>
                  <a:cubicBezTo>
                    <a:pt x="1451991" y="501952"/>
                    <a:pt x="1442532" y="524789"/>
                    <a:pt x="1425694" y="541627"/>
                  </a:cubicBezTo>
                  <a:cubicBezTo>
                    <a:pt x="1408856" y="558464"/>
                    <a:pt x="1386019" y="567924"/>
                    <a:pt x="1362207" y="567924"/>
                  </a:cubicBezTo>
                  <a:lnTo>
                    <a:pt x="89784" y="567924"/>
                  </a:lnTo>
                  <a:cubicBezTo>
                    <a:pt x="40198" y="567924"/>
                    <a:pt x="0" y="527726"/>
                    <a:pt x="0" y="478140"/>
                  </a:cubicBezTo>
                  <a:lnTo>
                    <a:pt x="0" y="89784"/>
                  </a:lnTo>
                  <a:cubicBezTo>
                    <a:pt x="0" y="65972"/>
                    <a:pt x="9459" y="43135"/>
                    <a:pt x="26297" y="26297"/>
                  </a:cubicBezTo>
                  <a:cubicBezTo>
                    <a:pt x="43135" y="9459"/>
                    <a:pt x="65972" y="0"/>
                    <a:pt x="89784" y="0"/>
                  </a:cubicBezTo>
                  <a:lnTo>
                    <a:pt x="1362207" y="0"/>
                  </a:lnTo>
                  <a:cubicBezTo>
                    <a:pt x="1386019" y="0"/>
                    <a:pt x="1408856" y="9459"/>
                    <a:pt x="1425694" y="26297"/>
                  </a:cubicBezTo>
                  <a:cubicBezTo>
                    <a:pt x="1442532" y="43135"/>
                    <a:pt x="1451991" y="65972"/>
                    <a:pt x="1451991" y="89784"/>
                  </a:cubicBezTo>
                  <a:close/>
                </a:path>
              </a:pathLst>
            </a:custGeom>
            <a:solidFill>
              <a:srgbClr val="6178CE"/>
            </a:solidFill>
          </p:spPr>
        </p:sp>
        <p:sp>
          <p:nvSpPr>
            <p:cNvPr name="TextBox 21" id="21"/>
            <p:cNvSpPr txBox="true"/>
            <p:nvPr/>
          </p:nvSpPr>
          <p:spPr>
            <a:xfrm>
              <a:off x="0" y="-38100"/>
              <a:ext cx="1451991" cy="606024"/>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4757101" y="6192004"/>
            <a:ext cx="4632993" cy="2248399"/>
          </a:xfrm>
          <a:prstGeom prst="rect">
            <a:avLst/>
          </a:prstGeom>
        </p:spPr>
        <p:txBody>
          <a:bodyPr anchor="t" rtlCol="false" tIns="0" lIns="0" bIns="0" rIns="0">
            <a:spAutoFit/>
          </a:bodyPr>
          <a:lstStyle/>
          <a:p>
            <a:pPr algn="l">
              <a:lnSpc>
                <a:spcPts val="2597"/>
              </a:lnSpc>
            </a:pPr>
            <a:r>
              <a:rPr lang="en-US" sz="1855" b="true">
                <a:solidFill>
                  <a:srgbClr val="FFFFFF"/>
                </a:solidFill>
                <a:latin typeface="Canva Sans Bold"/>
                <a:ea typeface="Canva Sans Bold"/>
                <a:cs typeface="Canva Sans Bold"/>
                <a:sym typeface="Canva Sans Bold"/>
              </a:rPr>
              <a:t>Masalah Sistem Manual</a:t>
            </a:r>
          </a:p>
          <a:p>
            <a:pPr algn="l">
              <a:lnSpc>
                <a:spcPts val="2597"/>
              </a:lnSpc>
              <a:spcBef>
                <a:spcPct val="0"/>
              </a:spcBef>
            </a:pPr>
            <a:r>
              <a:rPr lang="en-US" b="true" sz="1855">
                <a:solidFill>
                  <a:srgbClr val="FFFFFF"/>
                </a:solidFill>
                <a:latin typeface="Canva Sans Bold"/>
                <a:ea typeface="Canva Sans Bold"/>
                <a:cs typeface="Canva Sans Bold"/>
                <a:sym typeface="Canva Sans Bold"/>
              </a:rPr>
              <a:t>Pros</a:t>
            </a:r>
            <a:r>
              <a:rPr lang="en-US" b="true" sz="1855">
                <a:solidFill>
                  <a:srgbClr val="FFFFFF"/>
                </a:solidFill>
                <a:latin typeface="Canva Sans Bold"/>
                <a:ea typeface="Canva Sans Bold"/>
                <a:cs typeface="Canva Sans Bold"/>
                <a:sym typeface="Canva Sans Bold"/>
              </a:rPr>
              <a:t>es peminjaman masih menggunakan formulir fisik yang menyebabkan rendahnya efisiensi, risiko kehilangan data, serta potensi manipulasi catatan yang tinggi.</a:t>
            </a:r>
          </a:p>
          <a:p>
            <a:pPr algn="l">
              <a:lnSpc>
                <a:spcPts val="2597"/>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9D9E3"/>
        </a:solidFill>
      </p:bgPr>
    </p:bg>
    <p:spTree>
      <p:nvGrpSpPr>
        <p:cNvPr id="1" name=""/>
        <p:cNvGrpSpPr/>
        <p:nvPr/>
      </p:nvGrpSpPr>
      <p:grpSpPr>
        <a:xfrm>
          <a:off x="0" y="0"/>
          <a:ext cx="0" cy="0"/>
          <a:chOff x="0" y="0"/>
          <a:chExt cx="0" cy="0"/>
        </a:xfrm>
      </p:grpSpPr>
      <p:sp>
        <p:nvSpPr>
          <p:cNvPr name="Freeform 2" id="2"/>
          <p:cNvSpPr/>
          <p:nvPr/>
        </p:nvSpPr>
        <p:spPr>
          <a:xfrm flipH="false" flipV="false" rot="0">
            <a:off x="5351709" y="-2472932"/>
            <a:ext cx="14467786" cy="8312400"/>
          </a:xfrm>
          <a:custGeom>
            <a:avLst/>
            <a:gdLst/>
            <a:ahLst/>
            <a:cxnLst/>
            <a:rect r="r" b="b" t="t" l="l"/>
            <a:pathLst>
              <a:path h="8312400" w="14467786">
                <a:moveTo>
                  <a:pt x="0" y="0"/>
                </a:moveTo>
                <a:lnTo>
                  <a:pt x="14467785" y="0"/>
                </a:lnTo>
                <a:lnTo>
                  <a:pt x="14467785" y="8312401"/>
                </a:lnTo>
                <a:lnTo>
                  <a:pt x="0" y="8312401"/>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144682" y="1683268"/>
            <a:ext cx="6114618" cy="12286830"/>
          </a:xfrm>
          <a:custGeom>
            <a:avLst/>
            <a:gdLst/>
            <a:ahLst/>
            <a:cxnLst/>
            <a:rect r="r" b="b" t="t" l="l"/>
            <a:pathLst>
              <a:path h="12286830" w="6114618">
                <a:moveTo>
                  <a:pt x="0" y="0"/>
                </a:moveTo>
                <a:lnTo>
                  <a:pt x="6114618" y="0"/>
                </a:lnTo>
                <a:lnTo>
                  <a:pt x="6114618" y="12286831"/>
                </a:lnTo>
                <a:lnTo>
                  <a:pt x="0" y="122868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917653" y="3513775"/>
            <a:ext cx="4568676" cy="4493916"/>
          </a:xfrm>
          <a:custGeom>
            <a:avLst/>
            <a:gdLst/>
            <a:ahLst/>
            <a:cxnLst/>
            <a:rect r="r" b="b" t="t" l="l"/>
            <a:pathLst>
              <a:path h="4493916" w="4568676">
                <a:moveTo>
                  <a:pt x="0" y="0"/>
                </a:moveTo>
                <a:lnTo>
                  <a:pt x="4568676" y="0"/>
                </a:lnTo>
                <a:lnTo>
                  <a:pt x="4568676" y="4493916"/>
                </a:lnTo>
                <a:lnTo>
                  <a:pt x="0" y="44939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3296787" y="8561951"/>
            <a:ext cx="1898284" cy="601167"/>
            <a:chOff x="0" y="0"/>
            <a:chExt cx="641323" cy="203100"/>
          </a:xfrm>
        </p:grpSpPr>
        <p:sp>
          <p:nvSpPr>
            <p:cNvPr name="Freeform 6" id="6"/>
            <p:cNvSpPr/>
            <p:nvPr/>
          </p:nvSpPr>
          <p:spPr>
            <a:xfrm flipH="false" flipV="false" rot="0">
              <a:off x="0" y="0"/>
              <a:ext cx="641323" cy="203100"/>
            </a:xfrm>
            <a:custGeom>
              <a:avLst/>
              <a:gdLst/>
              <a:ahLst/>
              <a:cxnLst/>
              <a:rect r="r" b="b" t="t" l="l"/>
              <a:pathLst>
                <a:path h="203100" w="641323">
                  <a:moveTo>
                    <a:pt x="89724" y="0"/>
                  </a:moveTo>
                  <a:lnTo>
                    <a:pt x="551598" y="0"/>
                  </a:lnTo>
                  <a:cubicBezTo>
                    <a:pt x="575395" y="0"/>
                    <a:pt x="598216" y="9453"/>
                    <a:pt x="615043" y="26280"/>
                  </a:cubicBezTo>
                  <a:cubicBezTo>
                    <a:pt x="631870" y="43106"/>
                    <a:pt x="641323" y="65928"/>
                    <a:pt x="641323" y="89724"/>
                  </a:cubicBezTo>
                  <a:lnTo>
                    <a:pt x="641323" y="113376"/>
                  </a:lnTo>
                  <a:cubicBezTo>
                    <a:pt x="641323" y="162929"/>
                    <a:pt x="601152" y="203100"/>
                    <a:pt x="551598" y="203100"/>
                  </a:cubicBezTo>
                  <a:lnTo>
                    <a:pt x="89724" y="203100"/>
                  </a:lnTo>
                  <a:cubicBezTo>
                    <a:pt x="40171" y="203100"/>
                    <a:pt x="0" y="162929"/>
                    <a:pt x="0" y="113376"/>
                  </a:cubicBezTo>
                  <a:lnTo>
                    <a:pt x="0" y="89724"/>
                  </a:lnTo>
                  <a:cubicBezTo>
                    <a:pt x="0" y="40171"/>
                    <a:pt x="40171" y="0"/>
                    <a:pt x="89724" y="0"/>
                  </a:cubicBezTo>
                  <a:close/>
                </a:path>
              </a:pathLst>
            </a:custGeom>
            <a:ln w="38100" cap="rnd">
              <a:solidFill>
                <a:srgbClr val="2C3866"/>
              </a:solidFill>
              <a:prstDash val="solid"/>
              <a:round/>
            </a:ln>
          </p:spPr>
        </p:sp>
        <p:sp>
          <p:nvSpPr>
            <p:cNvPr name="TextBox 7" id="7"/>
            <p:cNvSpPr txBox="true"/>
            <p:nvPr/>
          </p:nvSpPr>
          <p:spPr>
            <a:xfrm>
              <a:off x="0" y="-38100"/>
              <a:ext cx="641323" cy="2412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028700" y="2618294"/>
            <a:ext cx="8115300" cy="2600665"/>
          </a:xfrm>
          <a:prstGeom prst="rect">
            <a:avLst/>
          </a:prstGeom>
        </p:spPr>
        <p:txBody>
          <a:bodyPr anchor="t" rtlCol="false" tIns="0" lIns="0" bIns="0" rIns="0">
            <a:spAutoFit/>
          </a:bodyPr>
          <a:lstStyle/>
          <a:p>
            <a:pPr algn="l">
              <a:lnSpc>
                <a:spcPts val="6594"/>
              </a:lnSpc>
            </a:pPr>
            <a:r>
              <a:rPr lang="en-US" sz="8910" spc="-445" b="true">
                <a:solidFill>
                  <a:srgbClr val="2C3866"/>
                </a:solidFill>
                <a:latin typeface="Helvetica World Bold"/>
                <a:ea typeface="Helvetica World Bold"/>
                <a:cs typeface="Helvetica World Bold"/>
                <a:sym typeface="Helvetica World Bold"/>
              </a:rPr>
              <a:t>Tujuan Strategis Sistem</a:t>
            </a:r>
          </a:p>
          <a:p>
            <a:pPr algn="l" marL="0" indent="0" lvl="0">
              <a:lnSpc>
                <a:spcPts val="6594"/>
              </a:lnSpc>
            </a:pPr>
          </a:p>
        </p:txBody>
      </p:sp>
      <p:sp>
        <p:nvSpPr>
          <p:cNvPr name="Freeform 9" id="9"/>
          <p:cNvSpPr/>
          <p:nvPr/>
        </p:nvSpPr>
        <p:spPr>
          <a:xfrm flipH="false" flipV="false" rot="0">
            <a:off x="1028700" y="1198029"/>
            <a:ext cx="566226" cy="741486"/>
          </a:xfrm>
          <a:custGeom>
            <a:avLst/>
            <a:gdLst/>
            <a:ahLst/>
            <a:cxnLst/>
            <a:rect r="r" b="b" t="t" l="l"/>
            <a:pathLst>
              <a:path h="741486" w="566226">
                <a:moveTo>
                  <a:pt x="0" y="0"/>
                </a:moveTo>
                <a:lnTo>
                  <a:pt x="566226" y="0"/>
                </a:lnTo>
                <a:lnTo>
                  <a:pt x="566226" y="741487"/>
                </a:lnTo>
                <a:lnTo>
                  <a:pt x="0" y="7414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1028700" y="6151121"/>
            <a:ext cx="2818355" cy="3107179"/>
            <a:chOff x="0" y="0"/>
            <a:chExt cx="812800" cy="896095"/>
          </a:xfrm>
        </p:grpSpPr>
        <p:sp>
          <p:nvSpPr>
            <p:cNvPr name="Freeform 11" id="11"/>
            <p:cNvSpPr/>
            <p:nvPr/>
          </p:nvSpPr>
          <p:spPr>
            <a:xfrm flipH="false" flipV="false" rot="0">
              <a:off x="0" y="0"/>
              <a:ext cx="812800" cy="896095"/>
            </a:xfrm>
            <a:custGeom>
              <a:avLst/>
              <a:gdLst/>
              <a:ahLst/>
              <a:cxnLst/>
              <a:rect r="r" b="b" t="t" l="l"/>
              <a:pathLst>
                <a:path h="896095" w="812800">
                  <a:moveTo>
                    <a:pt x="98891" y="0"/>
                  </a:moveTo>
                  <a:lnTo>
                    <a:pt x="713909" y="0"/>
                  </a:lnTo>
                  <a:cubicBezTo>
                    <a:pt x="740137" y="0"/>
                    <a:pt x="765290" y="10419"/>
                    <a:pt x="783836" y="28964"/>
                  </a:cubicBezTo>
                  <a:cubicBezTo>
                    <a:pt x="802381" y="47510"/>
                    <a:pt x="812800" y="72663"/>
                    <a:pt x="812800" y="98891"/>
                  </a:cubicBezTo>
                  <a:lnTo>
                    <a:pt x="812800" y="797205"/>
                  </a:lnTo>
                  <a:cubicBezTo>
                    <a:pt x="812800" y="851820"/>
                    <a:pt x="768525" y="896095"/>
                    <a:pt x="713909" y="896095"/>
                  </a:cubicBezTo>
                  <a:lnTo>
                    <a:pt x="98891" y="896095"/>
                  </a:lnTo>
                  <a:cubicBezTo>
                    <a:pt x="72663" y="896095"/>
                    <a:pt x="47510" y="885676"/>
                    <a:pt x="28964" y="867131"/>
                  </a:cubicBezTo>
                  <a:cubicBezTo>
                    <a:pt x="10419" y="848585"/>
                    <a:pt x="0" y="823432"/>
                    <a:pt x="0" y="797205"/>
                  </a:cubicBezTo>
                  <a:lnTo>
                    <a:pt x="0" y="98891"/>
                  </a:lnTo>
                  <a:cubicBezTo>
                    <a:pt x="0" y="72663"/>
                    <a:pt x="10419" y="47510"/>
                    <a:pt x="28964" y="28964"/>
                  </a:cubicBezTo>
                  <a:cubicBezTo>
                    <a:pt x="47510" y="10419"/>
                    <a:pt x="72663" y="0"/>
                    <a:pt x="98891" y="0"/>
                  </a:cubicBezTo>
                  <a:close/>
                </a:path>
              </a:pathLst>
            </a:custGeom>
            <a:solidFill>
              <a:srgbClr val="2C3866"/>
            </a:solidFill>
          </p:spPr>
        </p:sp>
        <p:sp>
          <p:nvSpPr>
            <p:cNvPr name="TextBox 12" id="12"/>
            <p:cNvSpPr txBox="true"/>
            <p:nvPr/>
          </p:nvSpPr>
          <p:spPr>
            <a:xfrm>
              <a:off x="0" y="-38100"/>
              <a:ext cx="812800" cy="93419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4039066" y="6151121"/>
            <a:ext cx="2818355" cy="3107179"/>
            <a:chOff x="0" y="0"/>
            <a:chExt cx="812800" cy="896095"/>
          </a:xfrm>
        </p:grpSpPr>
        <p:sp>
          <p:nvSpPr>
            <p:cNvPr name="Freeform 14" id="14"/>
            <p:cNvSpPr/>
            <p:nvPr/>
          </p:nvSpPr>
          <p:spPr>
            <a:xfrm flipH="false" flipV="false" rot="0">
              <a:off x="0" y="0"/>
              <a:ext cx="812800" cy="896095"/>
            </a:xfrm>
            <a:custGeom>
              <a:avLst/>
              <a:gdLst/>
              <a:ahLst/>
              <a:cxnLst/>
              <a:rect r="r" b="b" t="t" l="l"/>
              <a:pathLst>
                <a:path h="896095" w="812800">
                  <a:moveTo>
                    <a:pt x="98891" y="0"/>
                  </a:moveTo>
                  <a:lnTo>
                    <a:pt x="713909" y="0"/>
                  </a:lnTo>
                  <a:cubicBezTo>
                    <a:pt x="740137" y="0"/>
                    <a:pt x="765290" y="10419"/>
                    <a:pt x="783836" y="28964"/>
                  </a:cubicBezTo>
                  <a:cubicBezTo>
                    <a:pt x="802381" y="47510"/>
                    <a:pt x="812800" y="72663"/>
                    <a:pt x="812800" y="98891"/>
                  </a:cubicBezTo>
                  <a:lnTo>
                    <a:pt x="812800" y="797205"/>
                  </a:lnTo>
                  <a:cubicBezTo>
                    <a:pt x="812800" y="851820"/>
                    <a:pt x="768525" y="896095"/>
                    <a:pt x="713909" y="896095"/>
                  </a:cubicBezTo>
                  <a:lnTo>
                    <a:pt x="98891" y="896095"/>
                  </a:lnTo>
                  <a:cubicBezTo>
                    <a:pt x="72663" y="896095"/>
                    <a:pt x="47510" y="885676"/>
                    <a:pt x="28964" y="867131"/>
                  </a:cubicBezTo>
                  <a:cubicBezTo>
                    <a:pt x="10419" y="848585"/>
                    <a:pt x="0" y="823432"/>
                    <a:pt x="0" y="797205"/>
                  </a:cubicBezTo>
                  <a:lnTo>
                    <a:pt x="0" y="98891"/>
                  </a:lnTo>
                  <a:cubicBezTo>
                    <a:pt x="0" y="72663"/>
                    <a:pt x="10419" y="47510"/>
                    <a:pt x="28964" y="28964"/>
                  </a:cubicBezTo>
                  <a:cubicBezTo>
                    <a:pt x="47510" y="10419"/>
                    <a:pt x="72663" y="0"/>
                    <a:pt x="98891" y="0"/>
                  </a:cubicBezTo>
                  <a:close/>
                </a:path>
              </a:pathLst>
            </a:custGeom>
            <a:solidFill>
              <a:srgbClr val="6178CE"/>
            </a:solidFill>
          </p:spPr>
        </p:sp>
        <p:sp>
          <p:nvSpPr>
            <p:cNvPr name="TextBox 15" id="15"/>
            <p:cNvSpPr txBox="true"/>
            <p:nvPr/>
          </p:nvSpPr>
          <p:spPr>
            <a:xfrm>
              <a:off x="0" y="-38100"/>
              <a:ext cx="812800" cy="93419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3525387" y="8706204"/>
            <a:ext cx="1602891" cy="293611"/>
          </a:xfrm>
          <a:prstGeom prst="rect">
            <a:avLst/>
          </a:prstGeom>
        </p:spPr>
        <p:txBody>
          <a:bodyPr anchor="t" rtlCol="false" tIns="0" lIns="0" bIns="0" rIns="0">
            <a:spAutoFit/>
          </a:bodyPr>
          <a:lstStyle/>
          <a:p>
            <a:pPr algn="ctr" marL="0" indent="0" lvl="0">
              <a:lnSpc>
                <a:spcPts val="2334"/>
              </a:lnSpc>
            </a:pPr>
            <a:r>
              <a:rPr lang="en-US" sz="1838" spc="-45">
                <a:solidFill>
                  <a:srgbClr val="2C3866"/>
                </a:solidFill>
                <a:latin typeface="Bricolage Grotesque"/>
                <a:ea typeface="Bricolage Grotesque"/>
                <a:cs typeface="Bricolage Grotesque"/>
                <a:sym typeface="Bricolage Grotesque"/>
              </a:rPr>
              <a:t>Selanjutnya!</a:t>
            </a:r>
          </a:p>
        </p:txBody>
      </p:sp>
      <p:sp>
        <p:nvSpPr>
          <p:cNvPr name="TextBox 17" id="17"/>
          <p:cNvSpPr txBox="true"/>
          <p:nvPr/>
        </p:nvSpPr>
        <p:spPr>
          <a:xfrm rot="0">
            <a:off x="1143536" y="6380297"/>
            <a:ext cx="2359353" cy="411596"/>
          </a:xfrm>
          <a:prstGeom prst="rect">
            <a:avLst/>
          </a:prstGeom>
        </p:spPr>
        <p:txBody>
          <a:bodyPr anchor="t" rtlCol="false" tIns="0" lIns="0" bIns="0" rIns="0">
            <a:spAutoFit/>
          </a:bodyPr>
          <a:lstStyle/>
          <a:p>
            <a:pPr algn="ctr" marL="0" indent="0" lvl="0">
              <a:lnSpc>
                <a:spcPts val="3352"/>
              </a:lnSpc>
              <a:spcBef>
                <a:spcPct val="0"/>
              </a:spcBef>
            </a:pPr>
            <a:r>
              <a:rPr lang="en-US" b="true" sz="2394" spc="-59">
                <a:solidFill>
                  <a:srgbClr val="D9D9E3"/>
                </a:solidFill>
                <a:latin typeface="Bricolage Grotesque Bold"/>
                <a:ea typeface="Bricolage Grotesque Bold"/>
                <a:cs typeface="Bricolage Grotesque Bold"/>
                <a:sym typeface="Bricolage Grotesque Bold"/>
              </a:rPr>
              <a:t>Efisiensi</a:t>
            </a:r>
          </a:p>
        </p:txBody>
      </p:sp>
      <p:sp>
        <p:nvSpPr>
          <p:cNvPr name="TextBox 18" id="18"/>
          <p:cNvSpPr txBox="true"/>
          <p:nvPr/>
        </p:nvSpPr>
        <p:spPr>
          <a:xfrm rot="0">
            <a:off x="4268567" y="6380297"/>
            <a:ext cx="2359353" cy="411596"/>
          </a:xfrm>
          <a:prstGeom prst="rect">
            <a:avLst/>
          </a:prstGeom>
        </p:spPr>
        <p:txBody>
          <a:bodyPr anchor="t" rtlCol="false" tIns="0" lIns="0" bIns="0" rIns="0">
            <a:spAutoFit/>
          </a:bodyPr>
          <a:lstStyle/>
          <a:p>
            <a:pPr algn="ctr" marL="0" indent="0" lvl="0">
              <a:lnSpc>
                <a:spcPts val="3352"/>
              </a:lnSpc>
              <a:spcBef>
                <a:spcPct val="0"/>
              </a:spcBef>
            </a:pPr>
            <a:r>
              <a:rPr lang="en-US" b="true" sz="2394" spc="-59">
                <a:solidFill>
                  <a:srgbClr val="2C3866"/>
                </a:solidFill>
                <a:latin typeface="Bricolage Grotesque Bold"/>
                <a:ea typeface="Bricolage Grotesque Bold"/>
                <a:cs typeface="Bricolage Grotesque Bold"/>
                <a:sym typeface="Bricolage Grotesque Bold"/>
              </a:rPr>
              <a:t>Keamanan</a:t>
            </a:r>
          </a:p>
        </p:txBody>
      </p:sp>
      <p:grpSp>
        <p:nvGrpSpPr>
          <p:cNvPr name="Group 19" id="19"/>
          <p:cNvGrpSpPr/>
          <p:nvPr/>
        </p:nvGrpSpPr>
        <p:grpSpPr>
          <a:xfrm rot="0">
            <a:off x="7049432" y="6151121"/>
            <a:ext cx="2818355" cy="3107179"/>
            <a:chOff x="0" y="0"/>
            <a:chExt cx="812800" cy="896095"/>
          </a:xfrm>
        </p:grpSpPr>
        <p:sp>
          <p:nvSpPr>
            <p:cNvPr name="Freeform 20" id="20"/>
            <p:cNvSpPr/>
            <p:nvPr/>
          </p:nvSpPr>
          <p:spPr>
            <a:xfrm flipH="false" flipV="false" rot="0">
              <a:off x="0" y="0"/>
              <a:ext cx="812800" cy="896095"/>
            </a:xfrm>
            <a:custGeom>
              <a:avLst/>
              <a:gdLst/>
              <a:ahLst/>
              <a:cxnLst/>
              <a:rect r="r" b="b" t="t" l="l"/>
              <a:pathLst>
                <a:path h="896095" w="812800">
                  <a:moveTo>
                    <a:pt x="98891" y="0"/>
                  </a:moveTo>
                  <a:lnTo>
                    <a:pt x="713909" y="0"/>
                  </a:lnTo>
                  <a:cubicBezTo>
                    <a:pt x="740137" y="0"/>
                    <a:pt x="765290" y="10419"/>
                    <a:pt x="783836" y="28964"/>
                  </a:cubicBezTo>
                  <a:cubicBezTo>
                    <a:pt x="802381" y="47510"/>
                    <a:pt x="812800" y="72663"/>
                    <a:pt x="812800" y="98891"/>
                  </a:cubicBezTo>
                  <a:lnTo>
                    <a:pt x="812800" y="797205"/>
                  </a:lnTo>
                  <a:cubicBezTo>
                    <a:pt x="812800" y="851820"/>
                    <a:pt x="768525" y="896095"/>
                    <a:pt x="713909" y="896095"/>
                  </a:cubicBezTo>
                  <a:lnTo>
                    <a:pt x="98891" y="896095"/>
                  </a:lnTo>
                  <a:cubicBezTo>
                    <a:pt x="72663" y="896095"/>
                    <a:pt x="47510" y="885676"/>
                    <a:pt x="28964" y="867131"/>
                  </a:cubicBezTo>
                  <a:cubicBezTo>
                    <a:pt x="10419" y="848585"/>
                    <a:pt x="0" y="823432"/>
                    <a:pt x="0" y="797205"/>
                  </a:cubicBezTo>
                  <a:lnTo>
                    <a:pt x="0" y="98891"/>
                  </a:lnTo>
                  <a:cubicBezTo>
                    <a:pt x="0" y="72663"/>
                    <a:pt x="10419" y="47510"/>
                    <a:pt x="28964" y="28964"/>
                  </a:cubicBezTo>
                  <a:cubicBezTo>
                    <a:pt x="47510" y="10419"/>
                    <a:pt x="72663" y="0"/>
                    <a:pt x="98891" y="0"/>
                  </a:cubicBezTo>
                  <a:close/>
                </a:path>
              </a:pathLst>
            </a:custGeom>
            <a:solidFill>
              <a:srgbClr val="2C3866"/>
            </a:solidFill>
          </p:spPr>
        </p:sp>
        <p:sp>
          <p:nvSpPr>
            <p:cNvPr name="TextBox 21" id="21"/>
            <p:cNvSpPr txBox="true"/>
            <p:nvPr/>
          </p:nvSpPr>
          <p:spPr>
            <a:xfrm>
              <a:off x="0" y="-38100"/>
              <a:ext cx="812800" cy="934195"/>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7276521" y="6380297"/>
            <a:ext cx="2359353" cy="411596"/>
          </a:xfrm>
          <a:prstGeom prst="rect">
            <a:avLst/>
          </a:prstGeom>
        </p:spPr>
        <p:txBody>
          <a:bodyPr anchor="t" rtlCol="false" tIns="0" lIns="0" bIns="0" rIns="0">
            <a:spAutoFit/>
          </a:bodyPr>
          <a:lstStyle/>
          <a:p>
            <a:pPr algn="ctr" marL="0" indent="0" lvl="0">
              <a:lnSpc>
                <a:spcPts val="3352"/>
              </a:lnSpc>
              <a:spcBef>
                <a:spcPct val="0"/>
              </a:spcBef>
            </a:pPr>
            <a:r>
              <a:rPr lang="en-US" b="true" sz="2394" spc="-59">
                <a:solidFill>
                  <a:srgbClr val="D9D9E3"/>
                </a:solidFill>
                <a:latin typeface="Bricolage Grotesque Bold"/>
                <a:ea typeface="Bricolage Grotesque Bold"/>
                <a:cs typeface="Bricolage Grotesque Bold"/>
                <a:sym typeface="Bricolage Grotesque Bold"/>
              </a:rPr>
              <a:t>Otomatisasi</a:t>
            </a:r>
          </a:p>
        </p:txBody>
      </p:sp>
      <p:sp>
        <p:nvSpPr>
          <p:cNvPr name="TextBox 23" id="23"/>
          <p:cNvSpPr txBox="true"/>
          <p:nvPr/>
        </p:nvSpPr>
        <p:spPr>
          <a:xfrm rot="0">
            <a:off x="1258201" y="6996517"/>
            <a:ext cx="2359353" cy="2003298"/>
          </a:xfrm>
          <a:prstGeom prst="rect">
            <a:avLst/>
          </a:prstGeom>
        </p:spPr>
        <p:txBody>
          <a:bodyPr anchor="t" rtlCol="false" tIns="0" lIns="0" bIns="0" rIns="0">
            <a:spAutoFit/>
          </a:bodyPr>
          <a:lstStyle/>
          <a:p>
            <a:pPr algn="l">
              <a:lnSpc>
                <a:spcPts val="2286"/>
              </a:lnSpc>
            </a:pPr>
          </a:p>
          <a:p>
            <a:pPr algn="l">
              <a:lnSpc>
                <a:spcPts val="2286"/>
              </a:lnSpc>
            </a:pPr>
            <a:r>
              <a:rPr lang="en-US" sz="1800" spc="-45">
                <a:solidFill>
                  <a:srgbClr val="D9D9E3"/>
                </a:solidFill>
                <a:latin typeface="Bricolage Grotesque"/>
                <a:ea typeface="Bricolage Grotesque"/>
                <a:cs typeface="Bricolage Grotesque"/>
                <a:sym typeface="Bricolage Grotesque"/>
              </a:rPr>
              <a:t>Merancang alur manajemen aset yang jauh lebih efektif dibandingkan sistem manual konvensional</a:t>
            </a:r>
          </a:p>
          <a:p>
            <a:pPr algn="l" marL="0" indent="0" lvl="0">
              <a:lnSpc>
                <a:spcPts val="2286"/>
              </a:lnSpc>
            </a:pPr>
          </a:p>
        </p:txBody>
      </p:sp>
      <p:sp>
        <p:nvSpPr>
          <p:cNvPr name="TextBox 24" id="24"/>
          <p:cNvSpPr txBox="true"/>
          <p:nvPr/>
        </p:nvSpPr>
        <p:spPr>
          <a:xfrm rot="0">
            <a:off x="4225808" y="7244135"/>
            <a:ext cx="2402112" cy="1431798"/>
          </a:xfrm>
          <a:prstGeom prst="rect">
            <a:avLst/>
          </a:prstGeom>
        </p:spPr>
        <p:txBody>
          <a:bodyPr anchor="t" rtlCol="false" tIns="0" lIns="0" bIns="0" rIns="0">
            <a:spAutoFit/>
          </a:bodyPr>
          <a:lstStyle/>
          <a:p>
            <a:pPr algn="l" marL="0" indent="0" lvl="0">
              <a:lnSpc>
                <a:spcPts val="2286"/>
              </a:lnSpc>
            </a:pPr>
            <a:r>
              <a:rPr lang="en-US" sz="1800" spc="-45">
                <a:solidFill>
                  <a:srgbClr val="2C3866"/>
                </a:solidFill>
                <a:latin typeface="Bricolage Grotesque"/>
                <a:ea typeface="Bricolage Grotesque"/>
                <a:cs typeface="Bricolage Grotesque"/>
                <a:sym typeface="Bricolage Grotesque"/>
              </a:rPr>
              <a:t>Menerapkan blockchain untuk menjamin integritas data yang tidak dapat dimanipulasi.</a:t>
            </a:r>
          </a:p>
        </p:txBody>
      </p:sp>
      <p:sp>
        <p:nvSpPr>
          <p:cNvPr name="TextBox 25" id="25"/>
          <p:cNvSpPr txBox="true"/>
          <p:nvPr/>
        </p:nvSpPr>
        <p:spPr>
          <a:xfrm rot="0">
            <a:off x="7276521" y="7244135"/>
            <a:ext cx="2464584" cy="1431798"/>
          </a:xfrm>
          <a:prstGeom prst="rect">
            <a:avLst/>
          </a:prstGeom>
        </p:spPr>
        <p:txBody>
          <a:bodyPr anchor="t" rtlCol="false" tIns="0" lIns="0" bIns="0" rIns="0">
            <a:spAutoFit/>
          </a:bodyPr>
          <a:lstStyle/>
          <a:p>
            <a:pPr algn="l" marL="0" indent="0" lvl="0">
              <a:lnSpc>
                <a:spcPts val="2286"/>
              </a:lnSpc>
            </a:pPr>
            <a:r>
              <a:rPr lang="en-US" sz="1800" spc="-45">
                <a:solidFill>
                  <a:srgbClr val="D9D9E3"/>
                </a:solidFill>
                <a:latin typeface="Bricolage Grotesque"/>
                <a:ea typeface="Bricolage Grotesque"/>
                <a:cs typeface="Bricolage Grotesque"/>
                <a:sym typeface="Bricolage Grotesque"/>
              </a:rPr>
              <a:t>Menggunakan Smart Contract untuk proses persetujuan dan pengembalian aset secara otomatis.</a:t>
            </a:r>
          </a:p>
        </p:txBody>
      </p:sp>
      <p:grpSp>
        <p:nvGrpSpPr>
          <p:cNvPr name="Group 26" id="26"/>
          <p:cNvGrpSpPr/>
          <p:nvPr/>
        </p:nvGrpSpPr>
        <p:grpSpPr>
          <a:xfrm rot="0">
            <a:off x="1028700" y="4360989"/>
            <a:ext cx="1399744" cy="139974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165929" y="0"/>
                  </a:moveTo>
                  <a:lnTo>
                    <a:pt x="646871" y="0"/>
                  </a:lnTo>
                  <a:cubicBezTo>
                    <a:pt x="690878" y="0"/>
                    <a:pt x="733083" y="17482"/>
                    <a:pt x="764201" y="48599"/>
                  </a:cubicBezTo>
                  <a:cubicBezTo>
                    <a:pt x="795318" y="79717"/>
                    <a:pt x="812800" y="121922"/>
                    <a:pt x="812800" y="165929"/>
                  </a:cubicBezTo>
                  <a:lnTo>
                    <a:pt x="812800" y="646871"/>
                  </a:lnTo>
                  <a:cubicBezTo>
                    <a:pt x="812800" y="690878"/>
                    <a:pt x="795318" y="733083"/>
                    <a:pt x="764201" y="764201"/>
                  </a:cubicBezTo>
                  <a:cubicBezTo>
                    <a:pt x="733083" y="795318"/>
                    <a:pt x="690878" y="812800"/>
                    <a:pt x="646871" y="812800"/>
                  </a:cubicBezTo>
                  <a:lnTo>
                    <a:pt x="165929" y="812800"/>
                  </a:lnTo>
                  <a:cubicBezTo>
                    <a:pt x="121922" y="812800"/>
                    <a:pt x="79717" y="795318"/>
                    <a:pt x="48599" y="764201"/>
                  </a:cubicBezTo>
                  <a:cubicBezTo>
                    <a:pt x="17482" y="733083"/>
                    <a:pt x="0" y="690878"/>
                    <a:pt x="0" y="646871"/>
                  </a:cubicBezTo>
                  <a:lnTo>
                    <a:pt x="0" y="165929"/>
                  </a:lnTo>
                  <a:cubicBezTo>
                    <a:pt x="0" y="121922"/>
                    <a:pt x="17482" y="79717"/>
                    <a:pt x="48599" y="48599"/>
                  </a:cubicBezTo>
                  <a:cubicBezTo>
                    <a:pt x="79717" y="17482"/>
                    <a:pt x="121922" y="0"/>
                    <a:pt x="165929" y="0"/>
                  </a:cubicBezTo>
                  <a:close/>
                </a:path>
              </a:pathLst>
            </a:custGeom>
            <a:solidFill>
              <a:srgbClr val="2C3866"/>
            </a:solidFill>
          </p:spPr>
        </p:sp>
        <p:sp>
          <p:nvSpPr>
            <p:cNvPr name="TextBox 28" id="28"/>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29" id="29"/>
          <p:cNvGrpSpPr/>
          <p:nvPr/>
        </p:nvGrpSpPr>
        <p:grpSpPr>
          <a:xfrm rot="0">
            <a:off x="10185055" y="3368635"/>
            <a:ext cx="1416869" cy="1416869"/>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163923" y="0"/>
                  </a:moveTo>
                  <a:lnTo>
                    <a:pt x="648877" y="0"/>
                  </a:lnTo>
                  <a:cubicBezTo>
                    <a:pt x="739409" y="0"/>
                    <a:pt x="812800" y="73391"/>
                    <a:pt x="812800" y="163923"/>
                  </a:cubicBezTo>
                  <a:lnTo>
                    <a:pt x="812800" y="648877"/>
                  </a:lnTo>
                  <a:cubicBezTo>
                    <a:pt x="812800" y="739409"/>
                    <a:pt x="739409" y="812800"/>
                    <a:pt x="648877" y="812800"/>
                  </a:cubicBezTo>
                  <a:lnTo>
                    <a:pt x="163923" y="812800"/>
                  </a:lnTo>
                  <a:cubicBezTo>
                    <a:pt x="73391" y="812800"/>
                    <a:pt x="0" y="739409"/>
                    <a:pt x="0" y="648877"/>
                  </a:cubicBezTo>
                  <a:lnTo>
                    <a:pt x="0" y="163923"/>
                  </a:lnTo>
                  <a:cubicBezTo>
                    <a:pt x="0" y="73391"/>
                    <a:pt x="73391" y="0"/>
                    <a:pt x="163923" y="0"/>
                  </a:cubicBezTo>
                  <a:close/>
                </a:path>
              </a:pathLst>
            </a:custGeom>
            <a:solidFill>
              <a:srgbClr val="2C3866"/>
            </a:solidFill>
          </p:spPr>
        </p:sp>
        <p:sp>
          <p:nvSpPr>
            <p:cNvPr name="TextBox 31" id="31"/>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0">
            <a:off x="16142562" y="937549"/>
            <a:ext cx="1491439" cy="1491439"/>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155727" y="0"/>
                  </a:moveTo>
                  <a:lnTo>
                    <a:pt x="657073" y="0"/>
                  </a:lnTo>
                  <a:cubicBezTo>
                    <a:pt x="698374" y="0"/>
                    <a:pt x="737984" y="16407"/>
                    <a:pt x="767189" y="45611"/>
                  </a:cubicBezTo>
                  <a:cubicBezTo>
                    <a:pt x="796393" y="74816"/>
                    <a:pt x="812800" y="114426"/>
                    <a:pt x="812800" y="155727"/>
                  </a:cubicBezTo>
                  <a:lnTo>
                    <a:pt x="812800" y="657073"/>
                  </a:lnTo>
                  <a:cubicBezTo>
                    <a:pt x="812800" y="698374"/>
                    <a:pt x="796393" y="737984"/>
                    <a:pt x="767189" y="767189"/>
                  </a:cubicBezTo>
                  <a:cubicBezTo>
                    <a:pt x="737984" y="796393"/>
                    <a:pt x="698374" y="812800"/>
                    <a:pt x="657073" y="812800"/>
                  </a:cubicBezTo>
                  <a:lnTo>
                    <a:pt x="155727" y="812800"/>
                  </a:lnTo>
                  <a:cubicBezTo>
                    <a:pt x="114426" y="812800"/>
                    <a:pt x="74816" y="796393"/>
                    <a:pt x="45611" y="767189"/>
                  </a:cubicBezTo>
                  <a:cubicBezTo>
                    <a:pt x="16407" y="737984"/>
                    <a:pt x="0" y="698374"/>
                    <a:pt x="0" y="657073"/>
                  </a:cubicBezTo>
                  <a:lnTo>
                    <a:pt x="0" y="155727"/>
                  </a:lnTo>
                  <a:cubicBezTo>
                    <a:pt x="0" y="114426"/>
                    <a:pt x="16407" y="74816"/>
                    <a:pt x="45611" y="45611"/>
                  </a:cubicBezTo>
                  <a:cubicBezTo>
                    <a:pt x="74816" y="16407"/>
                    <a:pt x="114426" y="0"/>
                    <a:pt x="155727" y="0"/>
                  </a:cubicBezTo>
                  <a:close/>
                </a:path>
              </a:pathLst>
            </a:custGeom>
            <a:solidFill>
              <a:srgbClr val="2C3866"/>
            </a:solidFill>
          </p:spPr>
        </p:sp>
        <p:sp>
          <p:nvSpPr>
            <p:cNvPr name="TextBox 34" id="34"/>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35" id="35"/>
          <p:cNvSpPr/>
          <p:nvPr/>
        </p:nvSpPr>
        <p:spPr>
          <a:xfrm flipH="false" flipV="false" rot="0">
            <a:off x="10433319" y="3559495"/>
            <a:ext cx="920341" cy="1035149"/>
          </a:xfrm>
          <a:custGeom>
            <a:avLst/>
            <a:gdLst/>
            <a:ahLst/>
            <a:cxnLst/>
            <a:rect r="r" b="b" t="t" l="l"/>
            <a:pathLst>
              <a:path h="1035149" w="920341">
                <a:moveTo>
                  <a:pt x="0" y="0"/>
                </a:moveTo>
                <a:lnTo>
                  <a:pt x="920341" y="0"/>
                </a:lnTo>
                <a:lnTo>
                  <a:pt x="920341" y="1035149"/>
                </a:lnTo>
                <a:lnTo>
                  <a:pt x="0" y="103514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6" id="36"/>
          <p:cNvSpPr/>
          <p:nvPr/>
        </p:nvSpPr>
        <p:spPr>
          <a:xfrm flipH="false" flipV="false" rot="0">
            <a:off x="1275920" y="4596603"/>
            <a:ext cx="905303" cy="928516"/>
          </a:xfrm>
          <a:custGeom>
            <a:avLst/>
            <a:gdLst/>
            <a:ahLst/>
            <a:cxnLst/>
            <a:rect r="r" b="b" t="t" l="l"/>
            <a:pathLst>
              <a:path h="928516" w="905303">
                <a:moveTo>
                  <a:pt x="0" y="0"/>
                </a:moveTo>
                <a:lnTo>
                  <a:pt x="905303" y="0"/>
                </a:lnTo>
                <a:lnTo>
                  <a:pt x="905303" y="928516"/>
                </a:lnTo>
                <a:lnTo>
                  <a:pt x="0" y="9285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7" id="37"/>
          <p:cNvSpPr/>
          <p:nvPr/>
        </p:nvSpPr>
        <p:spPr>
          <a:xfrm flipH="false" flipV="false" rot="0">
            <a:off x="16372950" y="1167937"/>
            <a:ext cx="1030662" cy="1030662"/>
          </a:xfrm>
          <a:custGeom>
            <a:avLst/>
            <a:gdLst/>
            <a:ahLst/>
            <a:cxnLst/>
            <a:rect r="r" b="b" t="t" l="l"/>
            <a:pathLst>
              <a:path h="1030662" w="1030662">
                <a:moveTo>
                  <a:pt x="0" y="0"/>
                </a:moveTo>
                <a:lnTo>
                  <a:pt x="1030663" y="0"/>
                </a:lnTo>
                <a:lnTo>
                  <a:pt x="1030663" y="1030662"/>
                </a:lnTo>
                <a:lnTo>
                  <a:pt x="0" y="103066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Freeform 2" id="2"/>
          <p:cNvSpPr/>
          <p:nvPr/>
        </p:nvSpPr>
        <p:spPr>
          <a:xfrm flipH="false" flipV="false" rot="0">
            <a:off x="-6528952" y="-1733500"/>
            <a:ext cx="13794380" cy="13794380"/>
          </a:xfrm>
          <a:custGeom>
            <a:avLst/>
            <a:gdLst/>
            <a:ahLst/>
            <a:cxnLst/>
            <a:rect r="r" b="b" t="t" l="l"/>
            <a:pathLst>
              <a:path h="13794380" w="13794380">
                <a:moveTo>
                  <a:pt x="0" y="0"/>
                </a:moveTo>
                <a:lnTo>
                  <a:pt x="13794380" y="0"/>
                </a:lnTo>
                <a:lnTo>
                  <a:pt x="13794380" y="13794381"/>
                </a:lnTo>
                <a:lnTo>
                  <a:pt x="0" y="137943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83553">
            <a:off x="5997036" y="520965"/>
            <a:ext cx="3224272" cy="6472606"/>
          </a:xfrm>
          <a:custGeom>
            <a:avLst/>
            <a:gdLst/>
            <a:ahLst/>
            <a:cxnLst/>
            <a:rect r="r" b="b" t="t" l="l"/>
            <a:pathLst>
              <a:path h="6472606" w="3224272">
                <a:moveTo>
                  <a:pt x="0" y="0"/>
                </a:moveTo>
                <a:lnTo>
                  <a:pt x="3224272" y="0"/>
                </a:lnTo>
                <a:lnTo>
                  <a:pt x="3224272" y="6472606"/>
                </a:lnTo>
                <a:lnTo>
                  <a:pt x="0" y="6472606"/>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2091458"/>
            <a:ext cx="8601273" cy="2782634"/>
          </a:xfrm>
          <a:prstGeom prst="rect">
            <a:avLst/>
          </a:prstGeom>
        </p:spPr>
        <p:txBody>
          <a:bodyPr anchor="t" rtlCol="false" tIns="0" lIns="0" bIns="0" rIns="0">
            <a:spAutoFit/>
          </a:bodyPr>
          <a:lstStyle/>
          <a:p>
            <a:pPr algn="l">
              <a:lnSpc>
                <a:spcPts val="6170"/>
              </a:lnSpc>
            </a:pPr>
            <a:r>
              <a:rPr lang="en-US" sz="8338" spc="-416" b="true">
                <a:solidFill>
                  <a:srgbClr val="D9D9E3"/>
                </a:solidFill>
                <a:latin typeface="Helvetica World Bold"/>
                <a:ea typeface="Helvetica World Bold"/>
                <a:cs typeface="Helvetica World Bold"/>
                <a:sym typeface="Helvetica World Bold"/>
              </a:rPr>
              <a:t>Karakteristik</a:t>
            </a:r>
          </a:p>
          <a:p>
            <a:pPr algn="l">
              <a:lnSpc>
                <a:spcPts val="8671"/>
              </a:lnSpc>
            </a:pPr>
            <a:r>
              <a:rPr lang="en-US" sz="8338" spc="-416" b="true">
                <a:solidFill>
                  <a:srgbClr val="D9D9E3"/>
                </a:solidFill>
                <a:latin typeface="Helvetica World Bold"/>
                <a:ea typeface="Helvetica World Bold"/>
                <a:cs typeface="Helvetica World Bold"/>
                <a:sym typeface="Helvetica World Bold"/>
              </a:rPr>
              <a:t>Utama Blockchain</a:t>
            </a:r>
          </a:p>
          <a:p>
            <a:pPr algn="l" marL="0" indent="0" lvl="0">
              <a:lnSpc>
                <a:spcPts val="6170"/>
              </a:lnSpc>
            </a:pPr>
          </a:p>
        </p:txBody>
      </p:sp>
      <p:sp>
        <p:nvSpPr>
          <p:cNvPr name="AutoShape 5" id="5"/>
          <p:cNvSpPr/>
          <p:nvPr/>
        </p:nvSpPr>
        <p:spPr>
          <a:xfrm flipV="true">
            <a:off x="1009650" y="7040880"/>
            <a:ext cx="0" cy="2217420"/>
          </a:xfrm>
          <a:prstGeom prst="line">
            <a:avLst/>
          </a:prstGeom>
          <a:ln cap="flat" w="38100">
            <a:solidFill>
              <a:srgbClr val="D9D9E3"/>
            </a:solidFill>
            <a:prstDash val="solid"/>
            <a:headEnd type="none" len="sm" w="sm"/>
            <a:tailEnd type="none" len="sm" w="sm"/>
          </a:ln>
        </p:spPr>
      </p:sp>
      <p:sp>
        <p:nvSpPr>
          <p:cNvPr name="AutoShape 6" id="6"/>
          <p:cNvSpPr/>
          <p:nvPr/>
        </p:nvSpPr>
        <p:spPr>
          <a:xfrm flipV="true">
            <a:off x="10816571" y="7040880"/>
            <a:ext cx="0" cy="2217420"/>
          </a:xfrm>
          <a:prstGeom prst="line">
            <a:avLst/>
          </a:prstGeom>
          <a:ln cap="flat" w="38100">
            <a:solidFill>
              <a:srgbClr val="D9D9E3"/>
            </a:solidFill>
            <a:prstDash val="solid"/>
            <a:headEnd type="none" len="sm" w="sm"/>
            <a:tailEnd type="none" len="sm" w="sm"/>
          </a:ln>
        </p:spPr>
      </p:sp>
      <p:sp>
        <p:nvSpPr>
          <p:cNvPr name="TextBox 7" id="7"/>
          <p:cNvSpPr txBox="true"/>
          <p:nvPr/>
        </p:nvSpPr>
        <p:spPr>
          <a:xfrm rot="0">
            <a:off x="1311813" y="7100864"/>
            <a:ext cx="1608779" cy="858346"/>
          </a:xfrm>
          <a:prstGeom prst="rect">
            <a:avLst/>
          </a:prstGeom>
        </p:spPr>
        <p:txBody>
          <a:bodyPr anchor="t" rtlCol="false" tIns="0" lIns="0" bIns="0" rIns="0">
            <a:spAutoFit/>
          </a:bodyPr>
          <a:lstStyle/>
          <a:p>
            <a:pPr algn="l" marL="0" indent="0" lvl="0">
              <a:lnSpc>
                <a:spcPts val="5256"/>
              </a:lnSpc>
            </a:pPr>
            <a:r>
              <a:rPr lang="en-US" b="true" sz="7102" spc="-355">
                <a:solidFill>
                  <a:srgbClr val="D9D9E3"/>
                </a:solidFill>
                <a:latin typeface="Helvetica World Bold"/>
                <a:ea typeface="Helvetica World Bold"/>
                <a:cs typeface="Helvetica World Bold"/>
                <a:sym typeface="Helvetica World Bold"/>
              </a:rPr>
              <a:t>01.</a:t>
            </a:r>
          </a:p>
        </p:txBody>
      </p:sp>
      <p:sp>
        <p:nvSpPr>
          <p:cNvPr name="TextBox 8" id="8"/>
          <p:cNvSpPr txBox="true"/>
          <p:nvPr/>
        </p:nvSpPr>
        <p:spPr>
          <a:xfrm rot="0">
            <a:off x="6472507" y="7100864"/>
            <a:ext cx="1608779" cy="858346"/>
          </a:xfrm>
          <a:prstGeom prst="rect">
            <a:avLst/>
          </a:prstGeom>
        </p:spPr>
        <p:txBody>
          <a:bodyPr anchor="t" rtlCol="false" tIns="0" lIns="0" bIns="0" rIns="0">
            <a:spAutoFit/>
          </a:bodyPr>
          <a:lstStyle/>
          <a:p>
            <a:pPr algn="l" marL="0" indent="0" lvl="0">
              <a:lnSpc>
                <a:spcPts val="5256"/>
              </a:lnSpc>
            </a:pPr>
            <a:r>
              <a:rPr lang="en-US" b="true" sz="7102" spc="-355">
                <a:solidFill>
                  <a:srgbClr val="D9D9E3"/>
                </a:solidFill>
                <a:latin typeface="Helvetica World Bold"/>
                <a:ea typeface="Helvetica World Bold"/>
                <a:cs typeface="Helvetica World Bold"/>
                <a:sym typeface="Helvetica World Bold"/>
              </a:rPr>
              <a:t>02.</a:t>
            </a:r>
          </a:p>
        </p:txBody>
      </p:sp>
      <p:sp>
        <p:nvSpPr>
          <p:cNvPr name="TextBox 9" id="9"/>
          <p:cNvSpPr txBox="true"/>
          <p:nvPr/>
        </p:nvSpPr>
        <p:spPr>
          <a:xfrm rot="0">
            <a:off x="11121371" y="7946234"/>
            <a:ext cx="6596150" cy="1000506"/>
          </a:xfrm>
          <a:prstGeom prst="rect">
            <a:avLst/>
          </a:prstGeom>
        </p:spPr>
        <p:txBody>
          <a:bodyPr anchor="t" rtlCol="false" tIns="0" lIns="0" bIns="0" rIns="0">
            <a:spAutoFit/>
          </a:bodyPr>
          <a:lstStyle/>
          <a:p>
            <a:pPr algn="l" marL="0" indent="0" lvl="0">
              <a:lnSpc>
                <a:spcPts val="2667"/>
              </a:lnSpc>
            </a:pPr>
            <a:r>
              <a:rPr lang="en-US" sz="2100" spc="-52">
                <a:solidFill>
                  <a:srgbClr val="D9D9E3"/>
                </a:solidFill>
                <a:latin typeface="Bricolage Grotesque"/>
                <a:ea typeface="Bricolage Grotesque"/>
                <a:cs typeface="Bricolage Grotesque"/>
                <a:sym typeface="Bricolage Grotesque"/>
              </a:rPr>
              <a:t>Traceability: Memungkinkan audit riwayat penggunaan aset secara menyeluruh dan transparan oleh semua node.</a:t>
            </a:r>
          </a:p>
        </p:txBody>
      </p:sp>
      <p:sp>
        <p:nvSpPr>
          <p:cNvPr name="TextBox 10" id="10"/>
          <p:cNvSpPr txBox="true"/>
          <p:nvPr/>
        </p:nvSpPr>
        <p:spPr>
          <a:xfrm rot="0">
            <a:off x="1138092" y="7940160"/>
            <a:ext cx="5136897" cy="1000506"/>
          </a:xfrm>
          <a:prstGeom prst="rect">
            <a:avLst/>
          </a:prstGeom>
        </p:spPr>
        <p:txBody>
          <a:bodyPr anchor="t" rtlCol="false" tIns="0" lIns="0" bIns="0" rIns="0">
            <a:spAutoFit/>
          </a:bodyPr>
          <a:lstStyle/>
          <a:p>
            <a:pPr algn="l" marL="0" indent="0" lvl="0">
              <a:lnSpc>
                <a:spcPts val="2667"/>
              </a:lnSpc>
            </a:pPr>
            <a:r>
              <a:rPr lang="en-US" sz="2100" spc="-52">
                <a:solidFill>
                  <a:srgbClr val="D9D9E3"/>
                </a:solidFill>
                <a:latin typeface="Bricolage Grotesque"/>
                <a:ea typeface="Bricolage Grotesque"/>
                <a:cs typeface="Bricolage Grotesque"/>
                <a:sym typeface="Bricolage Grotesque"/>
              </a:rPr>
              <a:t>Desentralisasi: Menghilangkan ketergantungan pada satu otoritas pusat melalui mekanisme distributed ledger.</a:t>
            </a:r>
          </a:p>
        </p:txBody>
      </p:sp>
      <p:grpSp>
        <p:nvGrpSpPr>
          <p:cNvPr name="Group 11" id="11"/>
          <p:cNvGrpSpPr/>
          <p:nvPr/>
        </p:nvGrpSpPr>
        <p:grpSpPr>
          <a:xfrm rot="0">
            <a:off x="8024547" y="5802572"/>
            <a:ext cx="1236037" cy="123603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4061" y="0"/>
                  </a:moveTo>
                  <a:lnTo>
                    <a:pt x="668739" y="0"/>
                  </a:lnTo>
                  <a:cubicBezTo>
                    <a:pt x="748302" y="0"/>
                    <a:pt x="812800" y="64498"/>
                    <a:pt x="812800" y="144061"/>
                  </a:cubicBezTo>
                  <a:lnTo>
                    <a:pt x="812800" y="668739"/>
                  </a:lnTo>
                  <a:cubicBezTo>
                    <a:pt x="812800" y="748302"/>
                    <a:pt x="748302" y="812800"/>
                    <a:pt x="668739" y="812800"/>
                  </a:cubicBezTo>
                  <a:lnTo>
                    <a:pt x="144061" y="812800"/>
                  </a:lnTo>
                  <a:cubicBezTo>
                    <a:pt x="64498" y="812800"/>
                    <a:pt x="0" y="748302"/>
                    <a:pt x="0" y="668739"/>
                  </a:cubicBezTo>
                  <a:lnTo>
                    <a:pt x="0" y="144061"/>
                  </a:lnTo>
                  <a:cubicBezTo>
                    <a:pt x="0" y="64498"/>
                    <a:pt x="64498" y="0"/>
                    <a:pt x="144061" y="0"/>
                  </a:cubicBezTo>
                  <a:close/>
                </a:path>
              </a:pathLst>
            </a:custGeom>
            <a:solidFill>
              <a:srgbClr val="6178CE"/>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1578741" y="1380066"/>
            <a:ext cx="1489916" cy="148991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155886" y="0"/>
                  </a:moveTo>
                  <a:lnTo>
                    <a:pt x="656914" y="0"/>
                  </a:lnTo>
                  <a:cubicBezTo>
                    <a:pt x="698257" y="0"/>
                    <a:pt x="737908" y="16424"/>
                    <a:pt x="767142" y="45658"/>
                  </a:cubicBezTo>
                  <a:cubicBezTo>
                    <a:pt x="796376" y="74892"/>
                    <a:pt x="812800" y="114543"/>
                    <a:pt x="812800" y="155886"/>
                  </a:cubicBezTo>
                  <a:lnTo>
                    <a:pt x="812800" y="656914"/>
                  </a:lnTo>
                  <a:cubicBezTo>
                    <a:pt x="812800" y="698257"/>
                    <a:pt x="796376" y="737908"/>
                    <a:pt x="767142" y="767142"/>
                  </a:cubicBezTo>
                  <a:cubicBezTo>
                    <a:pt x="737908" y="796376"/>
                    <a:pt x="698257" y="812800"/>
                    <a:pt x="656914" y="812800"/>
                  </a:cubicBezTo>
                  <a:lnTo>
                    <a:pt x="155886" y="812800"/>
                  </a:lnTo>
                  <a:cubicBezTo>
                    <a:pt x="114543" y="812800"/>
                    <a:pt x="74892" y="796376"/>
                    <a:pt x="45658" y="767142"/>
                  </a:cubicBezTo>
                  <a:cubicBezTo>
                    <a:pt x="16424" y="737908"/>
                    <a:pt x="0" y="698257"/>
                    <a:pt x="0" y="656914"/>
                  </a:cubicBezTo>
                  <a:lnTo>
                    <a:pt x="0" y="155886"/>
                  </a:lnTo>
                  <a:cubicBezTo>
                    <a:pt x="0" y="114543"/>
                    <a:pt x="16424" y="74892"/>
                    <a:pt x="45658" y="45658"/>
                  </a:cubicBezTo>
                  <a:cubicBezTo>
                    <a:pt x="74892" y="16424"/>
                    <a:pt x="114543" y="0"/>
                    <a:pt x="155886" y="0"/>
                  </a:cubicBezTo>
                  <a:close/>
                </a:path>
              </a:pathLst>
            </a:custGeom>
            <a:solidFill>
              <a:srgbClr val="6178CE"/>
            </a:solidFill>
          </p:spPr>
        </p:sp>
        <p:sp>
          <p:nvSpPr>
            <p:cNvPr name="TextBox 16" id="16"/>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72689" y="4369753"/>
            <a:ext cx="1284899" cy="128489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180759" y="0"/>
                  </a:moveTo>
                  <a:lnTo>
                    <a:pt x="632041" y="0"/>
                  </a:lnTo>
                  <a:cubicBezTo>
                    <a:pt x="679981" y="0"/>
                    <a:pt x="725958" y="19044"/>
                    <a:pt x="759857" y="52943"/>
                  </a:cubicBezTo>
                  <a:cubicBezTo>
                    <a:pt x="793756" y="86842"/>
                    <a:pt x="812800" y="132819"/>
                    <a:pt x="812800" y="180759"/>
                  </a:cubicBezTo>
                  <a:lnTo>
                    <a:pt x="812800" y="632041"/>
                  </a:lnTo>
                  <a:cubicBezTo>
                    <a:pt x="812800" y="679981"/>
                    <a:pt x="793756" y="725958"/>
                    <a:pt x="759857" y="759857"/>
                  </a:cubicBezTo>
                  <a:cubicBezTo>
                    <a:pt x="725958" y="793756"/>
                    <a:pt x="679981" y="812800"/>
                    <a:pt x="632041" y="812800"/>
                  </a:cubicBezTo>
                  <a:lnTo>
                    <a:pt x="180759" y="812800"/>
                  </a:lnTo>
                  <a:cubicBezTo>
                    <a:pt x="132819" y="812800"/>
                    <a:pt x="86842" y="793756"/>
                    <a:pt x="52943" y="759857"/>
                  </a:cubicBezTo>
                  <a:cubicBezTo>
                    <a:pt x="19044" y="725958"/>
                    <a:pt x="0" y="679981"/>
                    <a:pt x="0" y="632041"/>
                  </a:cubicBezTo>
                  <a:lnTo>
                    <a:pt x="0" y="180759"/>
                  </a:lnTo>
                  <a:cubicBezTo>
                    <a:pt x="0" y="132819"/>
                    <a:pt x="19044" y="86842"/>
                    <a:pt x="52943" y="52943"/>
                  </a:cubicBezTo>
                  <a:cubicBezTo>
                    <a:pt x="86842" y="19044"/>
                    <a:pt x="132819" y="0"/>
                    <a:pt x="180759" y="0"/>
                  </a:cubicBezTo>
                  <a:close/>
                </a:path>
              </a:pathLst>
            </a:custGeom>
            <a:solidFill>
              <a:srgbClr val="6178CE"/>
            </a:solidFill>
          </p:spPr>
        </p:sp>
        <p:sp>
          <p:nvSpPr>
            <p:cNvPr name="TextBox 19" id="19"/>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5759100" y="5608362"/>
            <a:ext cx="1430246" cy="143024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162390" y="0"/>
                  </a:moveTo>
                  <a:lnTo>
                    <a:pt x="650410" y="0"/>
                  </a:lnTo>
                  <a:cubicBezTo>
                    <a:pt x="693479" y="0"/>
                    <a:pt x="734783" y="17109"/>
                    <a:pt x="765237" y="47563"/>
                  </a:cubicBezTo>
                  <a:cubicBezTo>
                    <a:pt x="795691" y="78017"/>
                    <a:pt x="812800" y="119321"/>
                    <a:pt x="812800" y="162390"/>
                  </a:cubicBezTo>
                  <a:lnTo>
                    <a:pt x="812800" y="650410"/>
                  </a:lnTo>
                  <a:cubicBezTo>
                    <a:pt x="812800" y="693479"/>
                    <a:pt x="795691" y="734783"/>
                    <a:pt x="765237" y="765237"/>
                  </a:cubicBezTo>
                  <a:cubicBezTo>
                    <a:pt x="734783" y="795691"/>
                    <a:pt x="693479" y="812800"/>
                    <a:pt x="650410" y="812800"/>
                  </a:cubicBezTo>
                  <a:lnTo>
                    <a:pt x="162390" y="812800"/>
                  </a:lnTo>
                  <a:cubicBezTo>
                    <a:pt x="119321" y="812800"/>
                    <a:pt x="78017" y="795691"/>
                    <a:pt x="47563" y="765237"/>
                  </a:cubicBezTo>
                  <a:cubicBezTo>
                    <a:pt x="17109" y="734783"/>
                    <a:pt x="0" y="693479"/>
                    <a:pt x="0" y="650410"/>
                  </a:cubicBezTo>
                  <a:lnTo>
                    <a:pt x="0" y="162390"/>
                  </a:lnTo>
                  <a:cubicBezTo>
                    <a:pt x="0" y="119321"/>
                    <a:pt x="17109" y="78017"/>
                    <a:pt x="47563" y="47563"/>
                  </a:cubicBezTo>
                  <a:cubicBezTo>
                    <a:pt x="78017" y="17109"/>
                    <a:pt x="119321" y="0"/>
                    <a:pt x="162390" y="0"/>
                  </a:cubicBezTo>
                  <a:close/>
                </a:path>
              </a:pathLst>
            </a:custGeom>
            <a:solidFill>
              <a:srgbClr val="6178CE"/>
            </a:solidFill>
          </p:spPr>
        </p:sp>
        <p:sp>
          <p:nvSpPr>
            <p:cNvPr name="TextBox 22" id="22"/>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11769712" y="1666726"/>
            <a:ext cx="1107974" cy="916597"/>
          </a:xfrm>
          <a:custGeom>
            <a:avLst/>
            <a:gdLst/>
            <a:ahLst/>
            <a:cxnLst/>
            <a:rect r="r" b="b" t="t" l="l"/>
            <a:pathLst>
              <a:path h="916597" w="1107974">
                <a:moveTo>
                  <a:pt x="0" y="0"/>
                </a:moveTo>
                <a:lnTo>
                  <a:pt x="1107975" y="0"/>
                </a:lnTo>
                <a:lnTo>
                  <a:pt x="1107975" y="916596"/>
                </a:lnTo>
                <a:lnTo>
                  <a:pt x="0" y="9165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0">
            <a:off x="1997829" y="4542836"/>
            <a:ext cx="834619" cy="938733"/>
          </a:xfrm>
          <a:custGeom>
            <a:avLst/>
            <a:gdLst/>
            <a:ahLst/>
            <a:cxnLst/>
            <a:rect r="r" b="b" t="t" l="l"/>
            <a:pathLst>
              <a:path h="938733" w="834619">
                <a:moveTo>
                  <a:pt x="0" y="0"/>
                </a:moveTo>
                <a:lnTo>
                  <a:pt x="834619" y="0"/>
                </a:lnTo>
                <a:lnTo>
                  <a:pt x="834619" y="938734"/>
                </a:lnTo>
                <a:lnTo>
                  <a:pt x="0" y="9387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5" id="25"/>
          <p:cNvSpPr/>
          <p:nvPr/>
        </p:nvSpPr>
        <p:spPr>
          <a:xfrm flipH="false" flipV="false" rot="0">
            <a:off x="8242854" y="6010630"/>
            <a:ext cx="799423" cy="819921"/>
          </a:xfrm>
          <a:custGeom>
            <a:avLst/>
            <a:gdLst/>
            <a:ahLst/>
            <a:cxnLst/>
            <a:rect r="r" b="b" t="t" l="l"/>
            <a:pathLst>
              <a:path h="819921" w="799423">
                <a:moveTo>
                  <a:pt x="0" y="0"/>
                </a:moveTo>
                <a:lnTo>
                  <a:pt x="799423" y="0"/>
                </a:lnTo>
                <a:lnTo>
                  <a:pt x="799423" y="819921"/>
                </a:lnTo>
                <a:lnTo>
                  <a:pt x="0" y="8199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15980036" y="5829298"/>
            <a:ext cx="988374" cy="988374"/>
          </a:xfrm>
          <a:custGeom>
            <a:avLst/>
            <a:gdLst/>
            <a:ahLst/>
            <a:cxnLst/>
            <a:rect r="r" b="b" t="t" l="l"/>
            <a:pathLst>
              <a:path h="988374" w="988374">
                <a:moveTo>
                  <a:pt x="0" y="0"/>
                </a:moveTo>
                <a:lnTo>
                  <a:pt x="988374" y="0"/>
                </a:lnTo>
                <a:lnTo>
                  <a:pt x="988374" y="988375"/>
                </a:lnTo>
                <a:lnTo>
                  <a:pt x="0" y="98837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AutoShape 27" id="27"/>
          <p:cNvSpPr/>
          <p:nvPr/>
        </p:nvSpPr>
        <p:spPr>
          <a:xfrm flipV="true">
            <a:off x="6109880" y="6984874"/>
            <a:ext cx="0" cy="2217420"/>
          </a:xfrm>
          <a:prstGeom prst="line">
            <a:avLst/>
          </a:prstGeom>
          <a:ln cap="flat" w="38100">
            <a:solidFill>
              <a:srgbClr val="D9D9E3"/>
            </a:solidFill>
            <a:prstDash val="solid"/>
            <a:headEnd type="none" len="sm" w="sm"/>
            <a:tailEnd type="none" len="sm" w="sm"/>
          </a:ln>
        </p:spPr>
      </p:sp>
      <p:sp>
        <p:nvSpPr>
          <p:cNvPr name="TextBox 28" id="28"/>
          <p:cNvSpPr txBox="true"/>
          <p:nvPr/>
        </p:nvSpPr>
        <p:spPr>
          <a:xfrm rot="0">
            <a:off x="6281536" y="7940160"/>
            <a:ext cx="4945805" cy="1333881"/>
          </a:xfrm>
          <a:prstGeom prst="rect">
            <a:avLst/>
          </a:prstGeom>
        </p:spPr>
        <p:txBody>
          <a:bodyPr anchor="t" rtlCol="false" tIns="0" lIns="0" bIns="0" rIns="0">
            <a:spAutoFit/>
          </a:bodyPr>
          <a:lstStyle/>
          <a:p>
            <a:pPr algn="l" marL="0" indent="0" lvl="0">
              <a:lnSpc>
                <a:spcPts val="2667"/>
              </a:lnSpc>
            </a:pPr>
            <a:r>
              <a:rPr lang="en-US" sz="2100" spc="-52">
                <a:solidFill>
                  <a:srgbClr val="D9D9E3"/>
                </a:solidFill>
                <a:latin typeface="Bricolage Grotesque"/>
                <a:ea typeface="Bricolage Grotesque"/>
                <a:cs typeface="Bricolage Grotesque"/>
                <a:sym typeface="Bricolage Grotesque"/>
              </a:rPr>
              <a:t>Immutable: Data yang sudah dicatat menggunakan hash kriptografi tidak dapat diubah atau dihapus tanpa terdeteksi.</a:t>
            </a:r>
          </a:p>
        </p:txBody>
      </p:sp>
      <p:sp>
        <p:nvSpPr>
          <p:cNvPr name="TextBox 29" id="29"/>
          <p:cNvSpPr txBox="true"/>
          <p:nvPr/>
        </p:nvSpPr>
        <p:spPr>
          <a:xfrm rot="0">
            <a:off x="11121371" y="7100864"/>
            <a:ext cx="1608779" cy="864420"/>
          </a:xfrm>
          <a:prstGeom prst="rect">
            <a:avLst/>
          </a:prstGeom>
        </p:spPr>
        <p:txBody>
          <a:bodyPr anchor="t" rtlCol="false" tIns="0" lIns="0" bIns="0" rIns="0">
            <a:spAutoFit/>
          </a:bodyPr>
          <a:lstStyle/>
          <a:p>
            <a:pPr algn="l" marL="0" indent="0" lvl="0">
              <a:lnSpc>
                <a:spcPts val="5256"/>
              </a:lnSpc>
            </a:pPr>
            <a:r>
              <a:rPr lang="en-US" b="true" sz="7102" spc="-355">
                <a:solidFill>
                  <a:srgbClr val="D9D9E3"/>
                </a:solidFill>
                <a:latin typeface="Helvetica World Bold"/>
                <a:ea typeface="Helvetica World Bold"/>
                <a:cs typeface="Helvetica World Bold"/>
                <a:sym typeface="Helvetica World Bold"/>
              </a:rPr>
              <a:t>03.</a:t>
            </a:r>
          </a:p>
        </p:txBody>
      </p:sp>
      <p:sp>
        <p:nvSpPr>
          <p:cNvPr name="TextBox 30" id="30"/>
          <p:cNvSpPr txBox="true"/>
          <p:nvPr/>
        </p:nvSpPr>
        <p:spPr>
          <a:xfrm rot="0">
            <a:off x="10816571" y="4504736"/>
            <a:ext cx="6807545" cy="1153795"/>
          </a:xfrm>
          <a:prstGeom prst="rect">
            <a:avLst/>
          </a:prstGeom>
        </p:spPr>
        <p:txBody>
          <a:bodyPr anchor="t" rtlCol="false" tIns="0" lIns="0" bIns="0" rIns="0">
            <a:spAutoFit/>
          </a:bodyPr>
          <a:lstStyle/>
          <a:p>
            <a:pPr algn="l">
              <a:lnSpc>
                <a:spcPts val="3079"/>
              </a:lnSpc>
              <a:spcBef>
                <a:spcPct val="0"/>
              </a:spcBef>
            </a:pPr>
            <a:r>
              <a:rPr lang="en-US" b="true" sz="2199">
                <a:solidFill>
                  <a:srgbClr val="D9D9E3"/>
                </a:solidFill>
                <a:latin typeface="Canva Sans Bold"/>
                <a:ea typeface="Canva Sans Bold"/>
                <a:cs typeface="Canva Sans Bold"/>
                <a:sym typeface="Canva Sans Bold"/>
              </a:rPr>
              <a:t>"Kekuatan utama blockchain terl</a:t>
            </a:r>
            <a:r>
              <a:rPr lang="en-US" b="true" sz="2199">
                <a:solidFill>
                  <a:srgbClr val="D9D9E3"/>
                </a:solidFill>
                <a:latin typeface="Canva Sans Bold"/>
                <a:ea typeface="Canva Sans Bold"/>
                <a:cs typeface="Canva Sans Bold"/>
                <a:sym typeface="Canva Sans Bold"/>
              </a:rPr>
              <a:t>etak pada kombinasi desentralisasi, integritas data, dan validasi terdistribusi."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Freeform 2" id="2"/>
          <p:cNvSpPr/>
          <p:nvPr/>
        </p:nvSpPr>
        <p:spPr>
          <a:xfrm flipH="false" flipV="false" rot="0">
            <a:off x="6468618" y="-2639057"/>
            <a:ext cx="14467786" cy="8312400"/>
          </a:xfrm>
          <a:custGeom>
            <a:avLst/>
            <a:gdLst/>
            <a:ahLst/>
            <a:cxnLst/>
            <a:rect r="r" b="b" t="t" l="l"/>
            <a:pathLst>
              <a:path h="8312400" w="14467786">
                <a:moveTo>
                  <a:pt x="0" y="0"/>
                </a:moveTo>
                <a:lnTo>
                  <a:pt x="14467785" y="0"/>
                </a:lnTo>
                <a:lnTo>
                  <a:pt x="14467785" y="8312401"/>
                </a:lnTo>
                <a:lnTo>
                  <a:pt x="0" y="8312401"/>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989358" y="1028700"/>
            <a:ext cx="2269942" cy="718867"/>
            <a:chOff x="0" y="0"/>
            <a:chExt cx="641323" cy="203100"/>
          </a:xfrm>
        </p:grpSpPr>
        <p:sp>
          <p:nvSpPr>
            <p:cNvPr name="Freeform 4" id="4"/>
            <p:cNvSpPr/>
            <p:nvPr/>
          </p:nvSpPr>
          <p:spPr>
            <a:xfrm flipH="false" flipV="false" rot="0">
              <a:off x="0" y="0"/>
              <a:ext cx="641323" cy="203100"/>
            </a:xfrm>
            <a:custGeom>
              <a:avLst/>
              <a:gdLst/>
              <a:ahLst/>
              <a:cxnLst/>
              <a:rect r="r" b="b" t="t" l="l"/>
              <a:pathLst>
                <a:path h="203100" w="641323">
                  <a:moveTo>
                    <a:pt x="75034" y="0"/>
                  </a:moveTo>
                  <a:lnTo>
                    <a:pt x="566289" y="0"/>
                  </a:lnTo>
                  <a:cubicBezTo>
                    <a:pt x="586189" y="0"/>
                    <a:pt x="605274" y="7905"/>
                    <a:pt x="619346" y="21977"/>
                  </a:cubicBezTo>
                  <a:cubicBezTo>
                    <a:pt x="633417" y="36048"/>
                    <a:pt x="641323" y="55134"/>
                    <a:pt x="641323" y="75034"/>
                  </a:cubicBezTo>
                  <a:lnTo>
                    <a:pt x="641323" y="128066"/>
                  </a:lnTo>
                  <a:cubicBezTo>
                    <a:pt x="641323" y="147967"/>
                    <a:pt x="633417" y="167052"/>
                    <a:pt x="619346" y="181123"/>
                  </a:cubicBezTo>
                  <a:cubicBezTo>
                    <a:pt x="605274" y="195195"/>
                    <a:pt x="586189" y="203100"/>
                    <a:pt x="566289" y="203100"/>
                  </a:cubicBezTo>
                  <a:lnTo>
                    <a:pt x="75034" y="203100"/>
                  </a:lnTo>
                  <a:cubicBezTo>
                    <a:pt x="55134" y="203100"/>
                    <a:pt x="36048" y="195195"/>
                    <a:pt x="21977" y="181123"/>
                  </a:cubicBezTo>
                  <a:cubicBezTo>
                    <a:pt x="7905" y="167052"/>
                    <a:pt x="0" y="147967"/>
                    <a:pt x="0" y="128066"/>
                  </a:cubicBezTo>
                  <a:lnTo>
                    <a:pt x="0" y="75034"/>
                  </a:lnTo>
                  <a:cubicBezTo>
                    <a:pt x="0" y="55134"/>
                    <a:pt x="7905" y="36048"/>
                    <a:pt x="21977" y="21977"/>
                  </a:cubicBezTo>
                  <a:cubicBezTo>
                    <a:pt x="36048" y="7905"/>
                    <a:pt x="55134" y="0"/>
                    <a:pt x="75034" y="0"/>
                  </a:cubicBezTo>
                  <a:close/>
                </a:path>
              </a:pathLst>
            </a:custGeom>
            <a:ln w="38100" cap="rnd">
              <a:solidFill>
                <a:srgbClr val="6178CE"/>
              </a:solidFill>
              <a:prstDash val="solid"/>
              <a:round/>
            </a:ln>
          </p:spPr>
        </p:sp>
        <p:sp>
          <p:nvSpPr>
            <p:cNvPr name="TextBox 5" id="5"/>
            <p:cNvSpPr txBox="true"/>
            <p:nvPr/>
          </p:nvSpPr>
          <p:spPr>
            <a:xfrm>
              <a:off x="0" y="-38100"/>
              <a:ext cx="641323" cy="2412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302264" y="-1770705"/>
            <a:ext cx="13794380" cy="13794380"/>
          </a:xfrm>
          <a:custGeom>
            <a:avLst/>
            <a:gdLst/>
            <a:ahLst/>
            <a:cxnLst/>
            <a:rect r="r" b="b" t="t" l="l"/>
            <a:pathLst>
              <a:path h="13794380" w="13794380">
                <a:moveTo>
                  <a:pt x="0" y="0"/>
                </a:moveTo>
                <a:lnTo>
                  <a:pt x="13794380" y="0"/>
                </a:lnTo>
                <a:lnTo>
                  <a:pt x="13794380" y="13794380"/>
                </a:lnTo>
                <a:lnTo>
                  <a:pt x="0" y="137943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478116" y="2052367"/>
            <a:ext cx="6577725" cy="2031627"/>
          </a:xfrm>
          <a:prstGeom prst="rect">
            <a:avLst/>
          </a:prstGeom>
        </p:spPr>
        <p:txBody>
          <a:bodyPr anchor="t" rtlCol="false" tIns="0" lIns="0" bIns="0" rIns="0">
            <a:spAutoFit/>
          </a:bodyPr>
          <a:lstStyle/>
          <a:p>
            <a:pPr algn="l">
              <a:lnSpc>
                <a:spcPts val="5124"/>
              </a:lnSpc>
            </a:pPr>
            <a:r>
              <a:rPr lang="en-US" sz="6924" spc="-346" b="true">
                <a:solidFill>
                  <a:srgbClr val="D9D9E3"/>
                </a:solidFill>
                <a:latin typeface="Helvetica World Bold"/>
                <a:ea typeface="Helvetica World Bold"/>
                <a:cs typeface="Helvetica World Bold"/>
                <a:sym typeface="Helvetica World Bold"/>
              </a:rPr>
              <a:t>Arsitektur Sistem Terintegrasi</a:t>
            </a:r>
          </a:p>
          <a:p>
            <a:pPr algn="l" marL="0" indent="0" lvl="0">
              <a:lnSpc>
                <a:spcPts val="5124"/>
              </a:lnSpc>
            </a:pPr>
          </a:p>
        </p:txBody>
      </p:sp>
      <p:sp>
        <p:nvSpPr>
          <p:cNvPr name="Freeform 8" id="8"/>
          <p:cNvSpPr/>
          <p:nvPr/>
        </p:nvSpPr>
        <p:spPr>
          <a:xfrm flipH="false" flipV="false" rot="0">
            <a:off x="1028700" y="8516814"/>
            <a:ext cx="566226" cy="741486"/>
          </a:xfrm>
          <a:custGeom>
            <a:avLst/>
            <a:gdLst/>
            <a:ahLst/>
            <a:cxnLst/>
            <a:rect r="r" b="b" t="t" l="l"/>
            <a:pathLst>
              <a:path h="741486" w="566226">
                <a:moveTo>
                  <a:pt x="0" y="0"/>
                </a:moveTo>
                <a:lnTo>
                  <a:pt x="566226" y="0"/>
                </a:lnTo>
                <a:lnTo>
                  <a:pt x="566226" y="741486"/>
                </a:lnTo>
                <a:lnTo>
                  <a:pt x="0" y="7414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6769464" y="8692944"/>
            <a:ext cx="979672" cy="981456"/>
          </a:xfrm>
          <a:custGeom>
            <a:avLst/>
            <a:gdLst/>
            <a:ahLst/>
            <a:cxnLst/>
            <a:rect r="r" b="b" t="t" l="l"/>
            <a:pathLst>
              <a:path h="981456" w="979672">
                <a:moveTo>
                  <a:pt x="0" y="0"/>
                </a:moveTo>
                <a:lnTo>
                  <a:pt x="979672" y="0"/>
                </a:lnTo>
                <a:lnTo>
                  <a:pt x="979672" y="981456"/>
                </a:lnTo>
                <a:lnTo>
                  <a:pt x="0" y="9814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9208492" y="4833728"/>
            <a:ext cx="902755" cy="902755"/>
          </a:xfrm>
          <a:custGeom>
            <a:avLst/>
            <a:gdLst/>
            <a:ahLst/>
            <a:cxnLst/>
            <a:rect r="r" b="b" t="t" l="l"/>
            <a:pathLst>
              <a:path h="902755" w="902755">
                <a:moveTo>
                  <a:pt x="0" y="0"/>
                </a:moveTo>
                <a:lnTo>
                  <a:pt x="902755" y="0"/>
                </a:lnTo>
                <a:lnTo>
                  <a:pt x="902755" y="902755"/>
                </a:lnTo>
                <a:lnTo>
                  <a:pt x="0" y="9027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478116" y="354691"/>
            <a:ext cx="1348018" cy="134801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32093" y="0"/>
                  </a:moveTo>
                  <a:lnTo>
                    <a:pt x="680707" y="0"/>
                  </a:lnTo>
                  <a:cubicBezTo>
                    <a:pt x="753660" y="0"/>
                    <a:pt x="812800" y="59140"/>
                    <a:pt x="812800" y="132093"/>
                  </a:cubicBezTo>
                  <a:lnTo>
                    <a:pt x="812800" y="680707"/>
                  </a:lnTo>
                  <a:cubicBezTo>
                    <a:pt x="812800" y="753660"/>
                    <a:pt x="753660" y="812800"/>
                    <a:pt x="680707" y="812800"/>
                  </a:cubicBezTo>
                  <a:lnTo>
                    <a:pt x="132093" y="812800"/>
                  </a:lnTo>
                  <a:cubicBezTo>
                    <a:pt x="59140" y="812800"/>
                    <a:pt x="0" y="753660"/>
                    <a:pt x="0" y="680707"/>
                  </a:cubicBezTo>
                  <a:lnTo>
                    <a:pt x="0" y="132093"/>
                  </a:lnTo>
                  <a:cubicBezTo>
                    <a:pt x="0" y="59140"/>
                    <a:pt x="59140" y="0"/>
                    <a:pt x="132093" y="0"/>
                  </a:cubicBezTo>
                  <a:close/>
                </a:path>
              </a:pathLst>
            </a:custGeom>
            <a:solidFill>
              <a:srgbClr val="6178CE"/>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723078" y="622940"/>
            <a:ext cx="871848" cy="894203"/>
          </a:xfrm>
          <a:custGeom>
            <a:avLst/>
            <a:gdLst/>
            <a:ahLst/>
            <a:cxnLst/>
            <a:rect r="r" b="b" t="t" l="l"/>
            <a:pathLst>
              <a:path h="894203" w="871848">
                <a:moveTo>
                  <a:pt x="0" y="0"/>
                </a:moveTo>
                <a:lnTo>
                  <a:pt x="871848" y="0"/>
                </a:lnTo>
                <a:lnTo>
                  <a:pt x="871848" y="894203"/>
                </a:lnTo>
                <a:lnTo>
                  <a:pt x="0" y="89420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8620204" y="8883767"/>
            <a:ext cx="834619" cy="938733"/>
          </a:xfrm>
          <a:custGeom>
            <a:avLst/>
            <a:gdLst/>
            <a:ahLst/>
            <a:cxnLst/>
            <a:rect r="r" b="b" t="t" l="l"/>
            <a:pathLst>
              <a:path h="938733" w="834619">
                <a:moveTo>
                  <a:pt x="0" y="0"/>
                </a:moveTo>
                <a:lnTo>
                  <a:pt x="834619" y="0"/>
                </a:lnTo>
                <a:lnTo>
                  <a:pt x="834619" y="938733"/>
                </a:lnTo>
                <a:lnTo>
                  <a:pt x="0" y="93873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9144000" y="2364061"/>
            <a:ext cx="8673491" cy="6152753"/>
          </a:xfrm>
          <a:custGeom>
            <a:avLst/>
            <a:gdLst/>
            <a:ahLst/>
            <a:cxnLst/>
            <a:rect r="r" b="b" t="t" l="l"/>
            <a:pathLst>
              <a:path h="6152753" w="8673491">
                <a:moveTo>
                  <a:pt x="0" y="0"/>
                </a:moveTo>
                <a:lnTo>
                  <a:pt x="8673491" y="0"/>
                </a:lnTo>
                <a:lnTo>
                  <a:pt x="8673491" y="6152753"/>
                </a:lnTo>
                <a:lnTo>
                  <a:pt x="0" y="6152753"/>
                </a:lnTo>
                <a:lnTo>
                  <a:pt x="0" y="0"/>
                </a:lnTo>
                <a:close/>
              </a:path>
            </a:pathLst>
          </a:custGeom>
          <a:blipFill>
            <a:blip r:embed="rId16"/>
            <a:stretch>
              <a:fillRect l="0" t="-4355" r="0" b="-2558"/>
            </a:stretch>
          </a:blipFill>
        </p:spPr>
      </p:sp>
      <p:sp>
        <p:nvSpPr>
          <p:cNvPr name="TextBox 17" id="17"/>
          <p:cNvSpPr txBox="true"/>
          <p:nvPr/>
        </p:nvSpPr>
        <p:spPr>
          <a:xfrm rot="0">
            <a:off x="15165971" y="1204926"/>
            <a:ext cx="1916715" cy="347366"/>
          </a:xfrm>
          <a:prstGeom prst="rect">
            <a:avLst/>
          </a:prstGeom>
        </p:spPr>
        <p:txBody>
          <a:bodyPr anchor="t" rtlCol="false" tIns="0" lIns="0" bIns="0" rIns="0">
            <a:spAutoFit/>
          </a:bodyPr>
          <a:lstStyle/>
          <a:p>
            <a:pPr algn="ctr" marL="0" indent="0" lvl="0">
              <a:lnSpc>
                <a:spcPts val="2791"/>
              </a:lnSpc>
            </a:pPr>
            <a:r>
              <a:rPr lang="en-US" sz="2198" spc="-54">
                <a:solidFill>
                  <a:srgbClr val="6178CE"/>
                </a:solidFill>
                <a:latin typeface="Bricolage Grotesque"/>
                <a:ea typeface="Bricolage Grotesque"/>
                <a:cs typeface="Bricolage Grotesque"/>
                <a:sym typeface="Bricolage Grotesque"/>
              </a:rPr>
              <a:t>Selanjutnya!</a:t>
            </a:r>
          </a:p>
        </p:txBody>
      </p:sp>
      <p:sp>
        <p:nvSpPr>
          <p:cNvPr name="TextBox 18" id="18"/>
          <p:cNvSpPr txBox="true"/>
          <p:nvPr/>
        </p:nvSpPr>
        <p:spPr>
          <a:xfrm rot="0">
            <a:off x="1028700" y="3834521"/>
            <a:ext cx="6596150" cy="1667256"/>
          </a:xfrm>
          <a:prstGeom prst="rect">
            <a:avLst/>
          </a:prstGeom>
        </p:spPr>
        <p:txBody>
          <a:bodyPr anchor="t" rtlCol="false" tIns="0" lIns="0" bIns="0" rIns="0">
            <a:spAutoFit/>
          </a:bodyPr>
          <a:lstStyle/>
          <a:p>
            <a:pPr algn="just" marL="453390" indent="-226695" lvl="1">
              <a:lnSpc>
                <a:spcPts val="2667"/>
              </a:lnSpc>
              <a:buFont typeface="Arial"/>
              <a:buChar char="•"/>
            </a:pPr>
            <a:r>
              <a:rPr lang="en-US" sz="2100" spc="-52">
                <a:solidFill>
                  <a:srgbClr val="D9D9E3"/>
                </a:solidFill>
                <a:latin typeface="Bricolage Grotesque"/>
                <a:ea typeface="Bricolage Grotesque"/>
                <a:cs typeface="Bricolage Grotesque"/>
                <a:sym typeface="Bricolage Grotesque"/>
              </a:rPr>
              <a:t>Layer 1 (Internal): Fokus pada lingkungan organisasi mahasiswa kampus.</a:t>
            </a:r>
          </a:p>
          <a:p>
            <a:pPr algn="just" marL="453390" indent="-226695" lvl="1">
              <a:lnSpc>
                <a:spcPts val="2667"/>
              </a:lnSpc>
              <a:buFont typeface="Arial"/>
              <a:buChar char="•"/>
            </a:pPr>
            <a:r>
              <a:rPr lang="en-US" sz="2100" spc="-52">
                <a:solidFill>
                  <a:srgbClr val="D9D9E3"/>
                </a:solidFill>
                <a:latin typeface="Bricolage Grotesque"/>
                <a:ea typeface="Bricolage Grotesque"/>
                <a:cs typeface="Bricolage Grotesque"/>
                <a:sym typeface="Bricolage Grotesque"/>
              </a:rPr>
              <a:t>Layer 2 (Frontend): dApp menggunakan React/HTML yang terhubung ke MetaMask.</a:t>
            </a:r>
          </a:p>
          <a:p>
            <a:pPr algn="just" marL="0" indent="0" lvl="0">
              <a:lnSpc>
                <a:spcPts val="2667"/>
              </a:lnSpc>
            </a:pPr>
          </a:p>
        </p:txBody>
      </p:sp>
      <p:sp>
        <p:nvSpPr>
          <p:cNvPr name="TextBox 19" id="19"/>
          <p:cNvSpPr txBox="true"/>
          <p:nvPr/>
        </p:nvSpPr>
        <p:spPr>
          <a:xfrm rot="0">
            <a:off x="1028700" y="5266056"/>
            <a:ext cx="6596150" cy="2334006"/>
          </a:xfrm>
          <a:prstGeom prst="rect">
            <a:avLst/>
          </a:prstGeom>
        </p:spPr>
        <p:txBody>
          <a:bodyPr anchor="t" rtlCol="false" tIns="0" lIns="0" bIns="0" rIns="0">
            <a:spAutoFit/>
          </a:bodyPr>
          <a:lstStyle/>
          <a:p>
            <a:pPr algn="just" marL="453390" indent="-226695" lvl="1">
              <a:lnSpc>
                <a:spcPts val="2667"/>
              </a:lnSpc>
              <a:buFont typeface="Arial"/>
              <a:buChar char="•"/>
            </a:pPr>
            <a:r>
              <a:rPr lang="en-US" sz="2100" spc="-52">
                <a:solidFill>
                  <a:srgbClr val="D9D9E3"/>
                </a:solidFill>
                <a:latin typeface="Bricolage Grotesque"/>
                <a:ea typeface="Bricolage Grotesque"/>
                <a:cs typeface="Bricolage Grotesque"/>
                <a:sym typeface="Bricolage Grotesque"/>
              </a:rPr>
              <a:t>Layer 3 (Contract): Logika bisnis menggunakan Solidity 0.8.x di jaringan Sepolia.</a:t>
            </a:r>
          </a:p>
          <a:p>
            <a:pPr algn="just" marL="453390" indent="-226695" lvl="1">
              <a:lnSpc>
                <a:spcPts val="2667"/>
              </a:lnSpc>
              <a:buFont typeface="Arial"/>
              <a:buChar char="•"/>
            </a:pPr>
            <a:r>
              <a:rPr lang="en-US" sz="2100" spc="-52">
                <a:solidFill>
                  <a:srgbClr val="D9D9E3"/>
                </a:solidFill>
                <a:latin typeface="Bricolage Grotesque"/>
                <a:ea typeface="Bricolage Grotesque"/>
                <a:cs typeface="Bricolage Grotesque"/>
                <a:sym typeface="Bricolage Grotesque"/>
              </a:rPr>
              <a:t>Layer 4 (Ethereum): Ledger permanen untuk validasi dan catatan transaksi.</a:t>
            </a:r>
          </a:p>
          <a:p>
            <a:pPr algn="just" marL="453390" indent="-226695" lvl="1">
              <a:lnSpc>
                <a:spcPts val="2667"/>
              </a:lnSpc>
              <a:buFont typeface="Arial"/>
              <a:buChar char="•"/>
            </a:pPr>
            <a:r>
              <a:rPr lang="en-US" sz="2100" spc="-52">
                <a:solidFill>
                  <a:srgbClr val="D9D9E3"/>
                </a:solidFill>
                <a:latin typeface="Bricolage Grotesque"/>
                <a:ea typeface="Bricolage Grotesque"/>
                <a:cs typeface="Bricolage Grotesque"/>
                <a:sym typeface="Bricolage Grotesque"/>
              </a:rPr>
              <a:t>Layer 5 (Storage): IPFS untuk penyimpanan dokumen pendukung/foto aset.</a:t>
            </a:r>
          </a:p>
          <a:p>
            <a:pPr algn="just" marL="0" indent="0" lvl="0">
              <a:lnSpc>
                <a:spcPts val="2667"/>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9D9E3"/>
        </a:solidFill>
      </p:bgPr>
    </p:bg>
    <p:spTree>
      <p:nvGrpSpPr>
        <p:cNvPr id="1" name=""/>
        <p:cNvGrpSpPr/>
        <p:nvPr/>
      </p:nvGrpSpPr>
      <p:grpSpPr>
        <a:xfrm>
          <a:off x="0" y="0"/>
          <a:ext cx="0" cy="0"/>
          <a:chOff x="0" y="0"/>
          <a:chExt cx="0" cy="0"/>
        </a:xfrm>
      </p:grpSpPr>
      <p:grpSp>
        <p:nvGrpSpPr>
          <p:cNvPr name="Group 2" id="2"/>
          <p:cNvGrpSpPr/>
          <p:nvPr/>
        </p:nvGrpSpPr>
        <p:grpSpPr>
          <a:xfrm rot="0">
            <a:off x="15621372" y="9258300"/>
            <a:ext cx="2374869" cy="752096"/>
            <a:chOff x="0" y="0"/>
            <a:chExt cx="641323" cy="203100"/>
          </a:xfrm>
        </p:grpSpPr>
        <p:sp>
          <p:nvSpPr>
            <p:cNvPr name="Freeform 3" id="3"/>
            <p:cNvSpPr/>
            <p:nvPr/>
          </p:nvSpPr>
          <p:spPr>
            <a:xfrm flipH="false" flipV="false" rot="0">
              <a:off x="0" y="0"/>
              <a:ext cx="641323" cy="203100"/>
            </a:xfrm>
            <a:custGeom>
              <a:avLst/>
              <a:gdLst/>
              <a:ahLst/>
              <a:cxnLst/>
              <a:rect r="r" b="b" t="t" l="l"/>
              <a:pathLst>
                <a:path h="203100" w="641323">
                  <a:moveTo>
                    <a:pt x="71719" y="0"/>
                  </a:moveTo>
                  <a:lnTo>
                    <a:pt x="569604" y="0"/>
                  </a:lnTo>
                  <a:cubicBezTo>
                    <a:pt x="588625" y="0"/>
                    <a:pt x="606867" y="7556"/>
                    <a:pt x="620317" y="21006"/>
                  </a:cubicBezTo>
                  <a:cubicBezTo>
                    <a:pt x="633767" y="34456"/>
                    <a:pt x="641323" y="52698"/>
                    <a:pt x="641323" y="71719"/>
                  </a:cubicBezTo>
                  <a:lnTo>
                    <a:pt x="641323" y="131382"/>
                  </a:lnTo>
                  <a:cubicBezTo>
                    <a:pt x="641323" y="150403"/>
                    <a:pt x="633767" y="168644"/>
                    <a:pt x="620317" y="182094"/>
                  </a:cubicBezTo>
                  <a:cubicBezTo>
                    <a:pt x="606867" y="195544"/>
                    <a:pt x="588625" y="203100"/>
                    <a:pt x="569604" y="203100"/>
                  </a:cubicBezTo>
                  <a:lnTo>
                    <a:pt x="71719" y="203100"/>
                  </a:lnTo>
                  <a:cubicBezTo>
                    <a:pt x="52698" y="203100"/>
                    <a:pt x="34456" y="195544"/>
                    <a:pt x="21006" y="182094"/>
                  </a:cubicBezTo>
                  <a:cubicBezTo>
                    <a:pt x="7556" y="168644"/>
                    <a:pt x="0" y="150403"/>
                    <a:pt x="0" y="131382"/>
                  </a:cubicBezTo>
                  <a:lnTo>
                    <a:pt x="0" y="71719"/>
                  </a:lnTo>
                  <a:cubicBezTo>
                    <a:pt x="0" y="52698"/>
                    <a:pt x="7556" y="34456"/>
                    <a:pt x="21006" y="21006"/>
                  </a:cubicBezTo>
                  <a:cubicBezTo>
                    <a:pt x="34456" y="7556"/>
                    <a:pt x="52698" y="0"/>
                    <a:pt x="71719" y="0"/>
                  </a:cubicBezTo>
                  <a:close/>
                </a:path>
              </a:pathLst>
            </a:custGeom>
            <a:ln w="38100" cap="rnd">
              <a:solidFill>
                <a:srgbClr val="2C3866"/>
              </a:solidFill>
              <a:prstDash val="solid"/>
              <a:round/>
            </a:ln>
          </p:spPr>
        </p:sp>
        <p:sp>
          <p:nvSpPr>
            <p:cNvPr name="TextBox 4" id="4"/>
            <p:cNvSpPr txBox="true"/>
            <p:nvPr/>
          </p:nvSpPr>
          <p:spPr>
            <a:xfrm>
              <a:off x="0" y="-38100"/>
              <a:ext cx="641323" cy="2412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392853" y="699137"/>
            <a:ext cx="1441230" cy="144123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161152" y="0"/>
                  </a:moveTo>
                  <a:lnTo>
                    <a:pt x="651648" y="0"/>
                  </a:lnTo>
                  <a:cubicBezTo>
                    <a:pt x="694388" y="0"/>
                    <a:pt x="735378" y="16979"/>
                    <a:pt x="765600" y="47200"/>
                  </a:cubicBezTo>
                  <a:cubicBezTo>
                    <a:pt x="795821" y="77422"/>
                    <a:pt x="812800" y="118412"/>
                    <a:pt x="812800" y="161152"/>
                  </a:cubicBezTo>
                  <a:lnTo>
                    <a:pt x="812800" y="651648"/>
                  </a:lnTo>
                  <a:cubicBezTo>
                    <a:pt x="812800" y="694388"/>
                    <a:pt x="795821" y="735378"/>
                    <a:pt x="765600" y="765600"/>
                  </a:cubicBezTo>
                  <a:cubicBezTo>
                    <a:pt x="735378" y="795821"/>
                    <a:pt x="694388" y="812800"/>
                    <a:pt x="651648" y="812800"/>
                  </a:cubicBezTo>
                  <a:lnTo>
                    <a:pt x="161152" y="812800"/>
                  </a:lnTo>
                  <a:cubicBezTo>
                    <a:pt x="118412" y="812800"/>
                    <a:pt x="77422" y="795821"/>
                    <a:pt x="47200" y="765600"/>
                  </a:cubicBezTo>
                  <a:cubicBezTo>
                    <a:pt x="16979" y="735378"/>
                    <a:pt x="0" y="694388"/>
                    <a:pt x="0" y="651648"/>
                  </a:cubicBezTo>
                  <a:lnTo>
                    <a:pt x="0" y="161152"/>
                  </a:lnTo>
                  <a:cubicBezTo>
                    <a:pt x="0" y="118412"/>
                    <a:pt x="16979" y="77422"/>
                    <a:pt x="47200" y="47200"/>
                  </a:cubicBezTo>
                  <a:cubicBezTo>
                    <a:pt x="77422" y="16979"/>
                    <a:pt x="118412" y="0"/>
                    <a:pt x="161152" y="0"/>
                  </a:cubicBezTo>
                  <a:close/>
                </a:path>
              </a:pathLst>
            </a:custGeom>
            <a:solidFill>
              <a:srgbClr val="6178CE"/>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9615486" y="921769"/>
            <a:ext cx="995964" cy="995964"/>
          </a:xfrm>
          <a:custGeom>
            <a:avLst/>
            <a:gdLst/>
            <a:ahLst/>
            <a:cxnLst/>
            <a:rect r="r" b="b" t="t" l="l"/>
            <a:pathLst>
              <a:path h="995964" w="995964">
                <a:moveTo>
                  <a:pt x="0" y="0"/>
                </a:moveTo>
                <a:lnTo>
                  <a:pt x="995964" y="0"/>
                </a:lnTo>
                <a:lnTo>
                  <a:pt x="995964" y="995965"/>
                </a:lnTo>
                <a:lnTo>
                  <a:pt x="0" y="9959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7676749" y="728387"/>
            <a:ext cx="1382729" cy="138272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128777" y="0"/>
                  </a:moveTo>
                  <a:lnTo>
                    <a:pt x="684023" y="0"/>
                  </a:lnTo>
                  <a:cubicBezTo>
                    <a:pt x="755144" y="0"/>
                    <a:pt x="812800" y="57656"/>
                    <a:pt x="812800" y="128777"/>
                  </a:cubicBezTo>
                  <a:lnTo>
                    <a:pt x="812800" y="684023"/>
                  </a:lnTo>
                  <a:cubicBezTo>
                    <a:pt x="812800" y="755144"/>
                    <a:pt x="755144" y="812800"/>
                    <a:pt x="684023" y="812800"/>
                  </a:cubicBezTo>
                  <a:lnTo>
                    <a:pt x="128777" y="812800"/>
                  </a:lnTo>
                  <a:cubicBezTo>
                    <a:pt x="57656" y="812800"/>
                    <a:pt x="0" y="755144"/>
                    <a:pt x="0" y="684023"/>
                  </a:cubicBezTo>
                  <a:lnTo>
                    <a:pt x="0" y="128777"/>
                  </a:lnTo>
                  <a:cubicBezTo>
                    <a:pt x="0" y="57656"/>
                    <a:pt x="57656" y="0"/>
                    <a:pt x="128777" y="0"/>
                  </a:cubicBezTo>
                  <a:close/>
                </a:path>
              </a:pathLst>
            </a:custGeom>
            <a:solidFill>
              <a:srgbClr val="6178CE"/>
            </a:solidFill>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7920965" y="961137"/>
            <a:ext cx="894298" cy="917229"/>
          </a:xfrm>
          <a:custGeom>
            <a:avLst/>
            <a:gdLst/>
            <a:ahLst/>
            <a:cxnLst/>
            <a:rect r="r" b="b" t="t" l="l"/>
            <a:pathLst>
              <a:path h="917229" w="894298">
                <a:moveTo>
                  <a:pt x="0" y="0"/>
                </a:moveTo>
                <a:lnTo>
                  <a:pt x="894298" y="0"/>
                </a:lnTo>
                <a:lnTo>
                  <a:pt x="894298" y="917229"/>
                </a:lnTo>
                <a:lnTo>
                  <a:pt x="0" y="91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0" y="637648"/>
            <a:ext cx="780681" cy="782103"/>
          </a:xfrm>
          <a:custGeom>
            <a:avLst/>
            <a:gdLst/>
            <a:ahLst/>
            <a:cxnLst/>
            <a:rect r="r" b="b" t="t" l="l"/>
            <a:pathLst>
              <a:path h="782103" w="780681">
                <a:moveTo>
                  <a:pt x="0" y="0"/>
                </a:moveTo>
                <a:lnTo>
                  <a:pt x="780681" y="0"/>
                </a:lnTo>
                <a:lnTo>
                  <a:pt x="780681" y="782104"/>
                </a:lnTo>
                <a:lnTo>
                  <a:pt x="0" y="7821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Table 14" id="14"/>
          <p:cNvGraphicFramePr>
            <a:graphicFrameLocks noGrp="true"/>
          </p:cNvGraphicFramePr>
          <p:nvPr/>
        </p:nvGraphicFramePr>
        <p:xfrm>
          <a:off x="2400643" y="5071223"/>
          <a:ext cx="9805383" cy="5623925"/>
        </p:xfrm>
        <a:graphic>
          <a:graphicData uri="http://schemas.openxmlformats.org/drawingml/2006/table">
            <a:tbl>
              <a:tblPr/>
              <a:tblGrid>
                <a:gridCol w="2207850"/>
                <a:gridCol w="7597533"/>
              </a:tblGrid>
              <a:tr h="803418">
                <a:tc>
                  <a:txBody>
                    <a:bodyPr anchor="t" rtlCol="false"/>
                    <a:lstStyle/>
                    <a:p>
                      <a:pPr algn="ctr">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ctr">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803418">
                <a:tc>
                  <a:txBody>
                    <a:bodyPr anchor="t" rtlCol="false"/>
                    <a:lstStyle/>
                    <a:p>
                      <a:pPr algn="just">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803418">
                <a:tc>
                  <a:txBody>
                    <a:bodyPr anchor="t" rtlCol="false"/>
                    <a:lstStyle/>
                    <a:p>
                      <a:pPr algn="just">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803418">
                <a:tc>
                  <a:txBody>
                    <a:bodyPr anchor="t" rtlCol="false"/>
                    <a:lstStyle/>
                    <a:p>
                      <a:pPr algn="just">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803418">
                <a:tc>
                  <a:txBody>
                    <a:bodyPr anchor="t" rtlCol="false"/>
                    <a:lstStyle/>
                    <a:p>
                      <a:pPr algn="just">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803418">
                <a:tc>
                  <a:txBody>
                    <a:bodyPr anchor="t" rtlCol="false"/>
                    <a:lstStyle/>
                    <a:p>
                      <a:pPr algn="just">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803418">
                <a:tc>
                  <a:txBody>
                    <a:bodyPr anchor="t" rtlCol="false"/>
                    <a:lstStyle/>
                    <a:p>
                      <a:pPr algn="just">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2070"/>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bl>
          </a:graphicData>
        </a:graphic>
      </p:graphicFrame>
      <p:graphicFrame>
        <p:nvGraphicFramePr>
          <p:cNvPr name="Object 15" id="15"/>
          <p:cNvGraphicFramePr/>
          <p:nvPr/>
        </p:nvGraphicFramePr>
        <p:xfrm>
          <a:off x="1028700" y="4229765"/>
          <a:ext cx="3771900" cy="4400550"/>
        </p:xfrm>
        <a:graphic>
          <a:graphicData uri="http://schemas.openxmlformats.org/presentationml/2006/ole">
            <p:oleObj imgW="4648200" imgH="52705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16" id="16"/>
          <p:cNvSpPr txBox="true"/>
          <p:nvPr/>
        </p:nvSpPr>
        <p:spPr>
          <a:xfrm rot="0">
            <a:off x="806067" y="2851314"/>
            <a:ext cx="9805383" cy="907137"/>
          </a:xfrm>
          <a:prstGeom prst="rect">
            <a:avLst/>
          </a:prstGeom>
        </p:spPr>
        <p:txBody>
          <a:bodyPr anchor="t" rtlCol="false" tIns="0" lIns="0" bIns="0" rIns="0">
            <a:spAutoFit/>
          </a:bodyPr>
          <a:lstStyle/>
          <a:p>
            <a:pPr algn="just" marL="0" indent="0" lvl="0">
              <a:lnSpc>
                <a:spcPts val="3714"/>
              </a:lnSpc>
            </a:pPr>
            <a:r>
              <a:rPr lang="en-US" b="true" sz="2924" spc="-73">
                <a:solidFill>
                  <a:srgbClr val="2C3866"/>
                </a:solidFill>
                <a:latin typeface="Bricolage Grotesque Bold"/>
                <a:ea typeface="Bricolage Grotesque Bold"/>
                <a:cs typeface="Bricolage Grotesque Bold"/>
                <a:sym typeface="Bricolage Grotesque Bold"/>
              </a:rPr>
              <a:t>Fungsi utama yang diimplementasikan pada smart contract ditunjukkan pada tabel berikut</a:t>
            </a:r>
          </a:p>
        </p:txBody>
      </p:sp>
      <p:sp>
        <p:nvSpPr>
          <p:cNvPr name="TextBox 17" id="17"/>
          <p:cNvSpPr txBox="true"/>
          <p:nvPr/>
        </p:nvSpPr>
        <p:spPr>
          <a:xfrm rot="0">
            <a:off x="1028700" y="636131"/>
            <a:ext cx="6648049" cy="2254367"/>
          </a:xfrm>
          <a:prstGeom prst="rect">
            <a:avLst/>
          </a:prstGeom>
        </p:spPr>
        <p:txBody>
          <a:bodyPr anchor="t" rtlCol="false" tIns="0" lIns="0" bIns="0" rIns="0">
            <a:spAutoFit/>
          </a:bodyPr>
          <a:lstStyle/>
          <a:p>
            <a:pPr algn="l">
              <a:lnSpc>
                <a:spcPts val="5675"/>
              </a:lnSpc>
            </a:pPr>
            <a:r>
              <a:rPr lang="en-US" sz="7669" spc="-383" b="true">
                <a:solidFill>
                  <a:srgbClr val="2C3866"/>
                </a:solidFill>
                <a:latin typeface="Helvetica World Bold"/>
                <a:ea typeface="Helvetica World Bold"/>
                <a:cs typeface="Helvetica World Bold"/>
                <a:sym typeface="Helvetica World Bold"/>
              </a:rPr>
              <a:t>Implementasi Smart Contract</a:t>
            </a:r>
          </a:p>
          <a:p>
            <a:pPr algn="l" marL="0" indent="0" lvl="0">
              <a:lnSpc>
                <a:spcPts val="5675"/>
              </a:lnSpc>
            </a:pPr>
          </a:p>
        </p:txBody>
      </p:sp>
      <p:sp>
        <p:nvSpPr>
          <p:cNvPr name="TextBox 18" id="18"/>
          <p:cNvSpPr txBox="true"/>
          <p:nvPr/>
        </p:nvSpPr>
        <p:spPr>
          <a:xfrm rot="0">
            <a:off x="15806150" y="9443552"/>
            <a:ext cx="2005314" cy="362542"/>
          </a:xfrm>
          <a:prstGeom prst="rect">
            <a:avLst/>
          </a:prstGeom>
        </p:spPr>
        <p:txBody>
          <a:bodyPr anchor="t" rtlCol="false" tIns="0" lIns="0" bIns="0" rIns="0">
            <a:spAutoFit/>
          </a:bodyPr>
          <a:lstStyle/>
          <a:p>
            <a:pPr algn="ctr" marL="0" indent="0" lvl="0">
              <a:lnSpc>
                <a:spcPts val="2920"/>
              </a:lnSpc>
            </a:pPr>
            <a:r>
              <a:rPr lang="en-US" sz="2299" spc="-57">
                <a:solidFill>
                  <a:srgbClr val="2C3866"/>
                </a:solidFill>
                <a:latin typeface="Bricolage Grotesque"/>
                <a:ea typeface="Bricolage Grotesque"/>
                <a:cs typeface="Bricolage Grotesque"/>
                <a:sym typeface="Bricolage Grotesque"/>
              </a:rPr>
              <a:t>Selanjutnya!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Freeform 2" id="2"/>
          <p:cNvSpPr/>
          <p:nvPr/>
        </p:nvSpPr>
        <p:spPr>
          <a:xfrm flipH="false" flipV="false" rot="0">
            <a:off x="8573454" y="1302976"/>
            <a:ext cx="1060110" cy="877000"/>
          </a:xfrm>
          <a:custGeom>
            <a:avLst/>
            <a:gdLst/>
            <a:ahLst/>
            <a:cxnLst/>
            <a:rect r="r" b="b" t="t" l="l"/>
            <a:pathLst>
              <a:path h="877000" w="1060110">
                <a:moveTo>
                  <a:pt x="0" y="0"/>
                </a:moveTo>
                <a:lnTo>
                  <a:pt x="1060110" y="0"/>
                </a:lnTo>
                <a:lnTo>
                  <a:pt x="1060110" y="877000"/>
                </a:lnTo>
                <a:lnTo>
                  <a:pt x="0" y="87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757026"/>
            <a:ext cx="8891375" cy="4256746"/>
          </a:xfrm>
          <a:custGeom>
            <a:avLst/>
            <a:gdLst/>
            <a:ahLst/>
            <a:cxnLst/>
            <a:rect r="r" b="b" t="t" l="l"/>
            <a:pathLst>
              <a:path h="4256746" w="8891375">
                <a:moveTo>
                  <a:pt x="0" y="0"/>
                </a:moveTo>
                <a:lnTo>
                  <a:pt x="8891375" y="0"/>
                </a:lnTo>
                <a:lnTo>
                  <a:pt x="8891375" y="4256745"/>
                </a:lnTo>
                <a:lnTo>
                  <a:pt x="0" y="4256745"/>
                </a:lnTo>
                <a:lnTo>
                  <a:pt x="0" y="0"/>
                </a:lnTo>
                <a:close/>
              </a:path>
            </a:pathLst>
          </a:custGeom>
          <a:blipFill>
            <a:blip r:embed="rId4"/>
            <a:stretch>
              <a:fillRect l="0" t="0" r="0" b="0"/>
            </a:stretch>
          </a:blipFill>
        </p:spPr>
      </p:sp>
      <p:sp>
        <p:nvSpPr>
          <p:cNvPr name="Freeform 4" id="4"/>
          <p:cNvSpPr/>
          <p:nvPr/>
        </p:nvSpPr>
        <p:spPr>
          <a:xfrm flipH="false" flipV="false" rot="0">
            <a:off x="7533545" y="3117939"/>
            <a:ext cx="8685316" cy="4130954"/>
          </a:xfrm>
          <a:custGeom>
            <a:avLst/>
            <a:gdLst/>
            <a:ahLst/>
            <a:cxnLst/>
            <a:rect r="r" b="b" t="t" l="l"/>
            <a:pathLst>
              <a:path h="4130954" w="8685316">
                <a:moveTo>
                  <a:pt x="0" y="0"/>
                </a:moveTo>
                <a:lnTo>
                  <a:pt x="8685316" y="0"/>
                </a:lnTo>
                <a:lnTo>
                  <a:pt x="8685316" y="4130953"/>
                </a:lnTo>
                <a:lnTo>
                  <a:pt x="0" y="4130953"/>
                </a:lnTo>
                <a:lnTo>
                  <a:pt x="0" y="0"/>
                </a:lnTo>
                <a:close/>
              </a:path>
            </a:pathLst>
          </a:custGeom>
          <a:blipFill>
            <a:blip r:embed="rId5"/>
            <a:stretch>
              <a:fillRect l="0" t="0" r="0" b="0"/>
            </a:stretch>
          </a:blipFill>
        </p:spPr>
      </p:sp>
      <p:sp>
        <p:nvSpPr>
          <p:cNvPr name="TextBox 5" id="5"/>
          <p:cNvSpPr txBox="true"/>
          <p:nvPr/>
        </p:nvSpPr>
        <p:spPr>
          <a:xfrm rot="0">
            <a:off x="14199452" y="168525"/>
            <a:ext cx="6119696" cy="1572952"/>
          </a:xfrm>
          <a:prstGeom prst="rect">
            <a:avLst/>
          </a:prstGeom>
        </p:spPr>
        <p:txBody>
          <a:bodyPr anchor="t" rtlCol="false" tIns="0" lIns="0" bIns="0" rIns="0">
            <a:spAutoFit/>
          </a:bodyPr>
          <a:lstStyle/>
          <a:p>
            <a:pPr algn="l">
              <a:lnSpc>
                <a:spcPts val="6059"/>
              </a:lnSpc>
            </a:pPr>
            <a:r>
              <a:rPr lang="en-US" sz="6121" spc="-306" b="true">
                <a:solidFill>
                  <a:srgbClr val="D9D9E3"/>
                </a:solidFill>
                <a:latin typeface="Helvetica World Bold"/>
                <a:ea typeface="Helvetica World Bold"/>
                <a:cs typeface="Helvetica World Bold"/>
                <a:sym typeface="Helvetica World Bold"/>
              </a:rPr>
              <a:t>Smart </a:t>
            </a:r>
          </a:p>
          <a:p>
            <a:pPr algn="l" marL="0" indent="0" lvl="0">
              <a:lnSpc>
                <a:spcPts val="6059"/>
              </a:lnSpc>
            </a:pPr>
            <a:r>
              <a:rPr lang="en-US" b="true" sz="6121" spc="-306">
                <a:solidFill>
                  <a:srgbClr val="D9D9E3"/>
                </a:solidFill>
                <a:latin typeface="Helvetica World Bold"/>
                <a:ea typeface="Helvetica World Bold"/>
                <a:cs typeface="Helvetica World Bold"/>
                <a:sym typeface="Helvetica World Bold"/>
              </a:rPr>
              <a:t>Contract </a:t>
            </a:r>
          </a:p>
        </p:txBody>
      </p:sp>
      <p:sp>
        <p:nvSpPr>
          <p:cNvPr name="TextBox 6" id="6"/>
          <p:cNvSpPr txBox="true"/>
          <p:nvPr/>
        </p:nvSpPr>
        <p:spPr>
          <a:xfrm rot="0">
            <a:off x="8063070" y="7497528"/>
            <a:ext cx="8155791" cy="2388094"/>
          </a:xfrm>
          <a:prstGeom prst="rect">
            <a:avLst/>
          </a:prstGeom>
        </p:spPr>
        <p:txBody>
          <a:bodyPr anchor="t" rtlCol="false" tIns="0" lIns="0" bIns="0" rIns="0">
            <a:spAutoFit/>
          </a:bodyPr>
          <a:lstStyle/>
          <a:p>
            <a:pPr algn="l">
              <a:lnSpc>
                <a:spcPts val="2772"/>
              </a:lnSpc>
              <a:spcBef>
                <a:spcPct val="0"/>
              </a:spcBef>
            </a:pPr>
            <a:r>
              <a:rPr lang="en-US" b="true" sz="1980">
                <a:solidFill>
                  <a:srgbClr val="B4B4B4"/>
                </a:solidFill>
                <a:latin typeface="Canva Sans Bold"/>
                <a:ea typeface="Canva Sans Bold"/>
                <a:cs typeface="Canva Sans Bold"/>
                <a:sym typeface="Canva Sans Bold"/>
              </a:rPr>
              <a:t>3.Hasil Akhi</a:t>
            </a:r>
            <a:r>
              <a:rPr lang="en-US" b="true" sz="1980">
                <a:solidFill>
                  <a:srgbClr val="B4B4B4"/>
                </a:solidFill>
                <a:latin typeface="Canva Sans Bold"/>
                <a:ea typeface="Canva Sans Bold"/>
                <a:cs typeface="Canva Sans Bold"/>
                <a:sym typeface="Canva Sans Bold"/>
              </a:rPr>
              <a:t>r (Exact Match):</a:t>
            </a:r>
          </a:p>
          <a:p>
            <a:pPr algn="l" marL="427600" indent="-213800" lvl="1">
              <a:lnSpc>
                <a:spcPts val="2772"/>
              </a:lnSpc>
              <a:buFont typeface="Arial"/>
              <a:buChar char="•"/>
            </a:pPr>
            <a:r>
              <a:rPr lang="en-US" b="true" sz="1980">
                <a:solidFill>
                  <a:srgbClr val="B4B4B4"/>
                </a:solidFill>
                <a:latin typeface="Canva Sans Bold"/>
                <a:ea typeface="Canva Sans Bold"/>
                <a:cs typeface="Canva Sans Bold"/>
                <a:sym typeface="Canva Sans Bold"/>
              </a:rPr>
              <a:t> Status verifikasi menunjukkan "Exact Match", artinya kode sumber 100% identik dengan yang ada di blockchain.</a:t>
            </a:r>
          </a:p>
          <a:p>
            <a:pPr algn="l" marL="427600" indent="-213800" lvl="1">
              <a:lnSpc>
                <a:spcPts val="2772"/>
              </a:lnSpc>
              <a:buFont typeface="Arial"/>
              <a:buChar char="•"/>
            </a:pPr>
            <a:r>
              <a:rPr lang="en-US" b="true" sz="1980">
                <a:solidFill>
                  <a:srgbClr val="B4B4B4"/>
                </a:solidFill>
                <a:latin typeface="Canva Sans Bold"/>
                <a:ea typeface="Canva Sans Bold"/>
                <a:cs typeface="Canva Sans Bold"/>
                <a:sym typeface="Canva Sans Bold"/>
              </a:rPr>
              <a:t> Manfaat: Memberikan transparansi penuh, keamanan, dan kepercayaan bagi pengguna karena kode dapat diperiksa secara terbuka.</a:t>
            </a:r>
          </a:p>
          <a:p>
            <a:pPr algn="l">
              <a:lnSpc>
                <a:spcPts val="2772"/>
              </a:lnSpc>
              <a:spcBef>
                <a:spcPct val="0"/>
              </a:spcBef>
            </a:pPr>
          </a:p>
        </p:txBody>
      </p:sp>
      <p:sp>
        <p:nvSpPr>
          <p:cNvPr name="TextBox 7" id="7"/>
          <p:cNvSpPr txBox="true"/>
          <p:nvPr/>
        </p:nvSpPr>
        <p:spPr>
          <a:xfrm rot="0">
            <a:off x="1028700" y="6222519"/>
            <a:ext cx="5616954" cy="4064481"/>
          </a:xfrm>
          <a:prstGeom prst="rect">
            <a:avLst/>
          </a:prstGeom>
        </p:spPr>
        <p:txBody>
          <a:bodyPr anchor="t" rtlCol="false" tIns="0" lIns="0" bIns="0" rIns="0">
            <a:spAutoFit/>
          </a:bodyPr>
          <a:lstStyle/>
          <a:p>
            <a:pPr algn="l">
              <a:lnSpc>
                <a:spcPts val="2539"/>
              </a:lnSpc>
            </a:pPr>
            <a:r>
              <a:rPr lang="en-US" sz="1813" b="true">
                <a:solidFill>
                  <a:srgbClr val="B4B4B4"/>
                </a:solidFill>
                <a:latin typeface="Canva Sans Bold"/>
                <a:ea typeface="Canva Sans Bold"/>
                <a:cs typeface="Canva Sans Bold"/>
                <a:sym typeface="Canva Sans Bold"/>
              </a:rPr>
              <a:t>1. Kompilasi &amp; Deployment (Remix IDE):</a:t>
            </a:r>
          </a:p>
          <a:p>
            <a:pPr algn="l" marL="391559" indent="-195779" lvl="1">
              <a:lnSpc>
                <a:spcPts val="2539"/>
              </a:lnSpc>
              <a:buFont typeface="Arial"/>
              <a:buChar char="•"/>
            </a:pPr>
            <a:r>
              <a:rPr lang="en-US" b="true" sz="1813">
                <a:solidFill>
                  <a:srgbClr val="B4B4B4"/>
                </a:solidFill>
                <a:latin typeface="Canva Sans Bold"/>
                <a:ea typeface="Canva Sans Bold"/>
                <a:cs typeface="Canva Sans Bold"/>
                <a:sym typeface="Canva Sans Bold"/>
              </a:rPr>
              <a:t> Smart contract disusun menggunakan bahasa Solidity 0.8.34.</a:t>
            </a:r>
          </a:p>
          <a:p>
            <a:pPr algn="l" marL="391559" indent="-195779" lvl="1">
              <a:lnSpc>
                <a:spcPts val="2539"/>
              </a:lnSpc>
              <a:buFont typeface="Arial"/>
              <a:buChar char="•"/>
            </a:pPr>
            <a:r>
              <a:rPr lang="en-US" b="true" sz="1813">
                <a:solidFill>
                  <a:srgbClr val="B4B4B4"/>
                </a:solidFill>
                <a:latin typeface="Canva Sans Bold"/>
                <a:ea typeface="Canva Sans Bold"/>
                <a:cs typeface="Canva Sans Bold"/>
                <a:sym typeface="Canva Sans Bold"/>
              </a:rPr>
              <a:t> Kontrak dideploy ke jaringan Ethereum Sepolia Testnet.</a:t>
            </a:r>
          </a:p>
          <a:p>
            <a:pPr algn="l">
              <a:lnSpc>
                <a:spcPts val="2539"/>
              </a:lnSpc>
            </a:pPr>
          </a:p>
          <a:p>
            <a:pPr algn="l">
              <a:lnSpc>
                <a:spcPts val="2539"/>
              </a:lnSpc>
            </a:pPr>
            <a:r>
              <a:rPr lang="en-US" sz="1813" b="true">
                <a:solidFill>
                  <a:srgbClr val="B4B4B4"/>
                </a:solidFill>
                <a:latin typeface="Canva Sans Bold"/>
                <a:ea typeface="Canva Sans Bold"/>
                <a:cs typeface="Canva Sans Bold"/>
                <a:sym typeface="Canva Sans Bold"/>
              </a:rPr>
              <a:t>2. Verifikasi Kode Otomatis:</a:t>
            </a:r>
          </a:p>
          <a:p>
            <a:pPr algn="l" marL="391559" indent="-195779" lvl="1">
              <a:lnSpc>
                <a:spcPts val="2539"/>
              </a:lnSpc>
              <a:buFont typeface="Arial"/>
              <a:buChar char="•"/>
            </a:pPr>
            <a:r>
              <a:rPr lang="en-US" b="true" sz="1813">
                <a:solidFill>
                  <a:srgbClr val="B4B4B4"/>
                </a:solidFill>
                <a:latin typeface="Canva Sans Bold"/>
                <a:ea typeface="Canva Sans Bold"/>
                <a:cs typeface="Canva Sans Bold"/>
                <a:sym typeface="Canva Sans Bold"/>
              </a:rPr>
              <a:t> Remix IDE mengintegrasikan layanan verifikasi (Sourcify &amp; Blockscout).</a:t>
            </a:r>
          </a:p>
          <a:p>
            <a:pPr algn="l" marL="391559" indent="-195779" lvl="1">
              <a:lnSpc>
                <a:spcPts val="2539"/>
              </a:lnSpc>
              <a:buFont typeface="Arial"/>
              <a:buChar char="•"/>
            </a:pPr>
            <a:r>
              <a:rPr lang="en-US" b="true" sz="1813">
                <a:solidFill>
                  <a:srgbClr val="B4B4B4"/>
                </a:solidFill>
                <a:latin typeface="Canva Sans Bold"/>
                <a:ea typeface="Canva Sans Bold"/>
                <a:cs typeface="Canva Sans Bold"/>
                <a:sym typeface="Canva Sans Bold"/>
              </a:rPr>
              <a:t> Sistem secara otomatis mencocokkan Source Code (kode asli) dengan Bytecode yang tertanam di blockchain.</a:t>
            </a:r>
          </a:p>
          <a:p>
            <a:pPr algn="l">
              <a:lnSpc>
                <a:spcPts val="253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237776" y="-1795628"/>
            <a:ext cx="7892311" cy="15843519"/>
          </a:xfrm>
          <a:custGeom>
            <a:avLst/>
            <a:gdLst/>
            <a:ahLst/>
            <a:cxnLst/>
            <a:rect r="r" b="b" t="t" l="l"/>
            <a:pathLst>
              <a:path h="15843519" w="7892311">
                <a:moveTo>
                  <a:pt x="0" y="0"/>
                </a:moveTo>
                <a:lnTo>
                  <a:pt x="7892311" y="0"/>
                </a:lnTo>
                <a:lnTo>
                  <a:pt x="7892311" y="15843519"/>
                </a:lnTo>
                <a:lnTo>
                  <a:pt x="0" y="158435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573454" y="1302976"/>
            <a:ext cx="1060110" cy="877000"/>
          </a:xfrm>
          <a:custGeom>
            <a:avLst/>
            <a:gdLst/>
            <a:ahLst/>
            <a:cxnLst/>
            <a:rect r="r" b="b" t="t" l="l"/>
            <a:pathLst>
              <a:path h="877000" w="1060110">
                <a:moveTo>
                  <a:pt x="0" y="0"/>
                </a:moveTo>
                <a:lnTo>
                  <a:pt x="1060110" y="0"/>
                </a:lnTo>
                <a:lnTo>
                  <a:pt x="1060110" y="877000"/>
                </a:lnTo>
                <a:lnTo>
                  <a:pt x="0" y="877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2309" y="2730381"/>
            <a:ext cx="7391200" cy="5081450"/>
          </a:xfrm>
          <a:custGeom>
            <a:avLst/>
            <a:gdLst/>
            <a:ahLst/>
            <a:cxnLst/>
            <a:rect r="r" b="b" t="t" l="l"/>
            <a:pathLst>
              <a:path h="5081450" w="7391200">
                <a:moveTo>
                  <a:pt x="0" y="0"/>
                </a:moveTo>
                <a:lnTo>
                  <a:pt x="7391200" y="0"/>
                </a:lnTo>
                <a:lnTo>
                  <a:pt x="7391200" y="5081450"/>
                </a:lnTo>
                <a:lnTo>
                  <a:pt x="0" y="5081450"/>
                </a:lnTo>
                <a:lnTo>
                  <a:pt x="0" y="0"/>
                </a:lnTo>
                <a:close/>
              </a:path>
            </a:pathLst>
          </a:custGeom>
          <a:blipFill>
            <a:blip r:embed="rId6"/>
            <a:stretch>
              <a:fillRect l="0" t="0" r="0" b="0"/>
            </a:stretch>
          </a:blipFill>
        </p:spPr>
      </p:sp>
      <p:sp>
        <p:nvSpPr>
          <p:cNvPr name="Freeform 5" id="5"/>
          <p:cNvSpPr/>
          <p:nvPr/>
        </p:nvSpPr>
        <p:spPr>
          <a:xfrm flipH="false" flipV="false" rot="0">
            <a:off x="7692885" y="2730381"/>
            <a:ext cx="7514159" cy="5081450"/>
          </a:xfrm>
          <a:custGeom>
            <a:avLst/>
            <a:gdLst/>
            <a:ahLst/>
            <a:cxnLst/>
            <a:rect r="r" b="b" t="t" l="l"/>
            <a:pathLst>
              <a:path h="5081450" w="7514159">
                <a:moveTo>
                  <a:pt x="0" y="0"/>
                </a:moveTo>
                <a:lnTo>
                  <a:pt x="7514160" y="0"/>
                </a:lnTo>
                <a:lnTo>
                  <a:pt x="7514160" y="5081450"/>
                </a:lnTo>
                <a:lnTo>
                  <a:pt x="0" y="5081450"/>
                </a:lnTo>
                <a:lnTo>
                  <a:pt x="0" y="0"/>
                </a:lnTo>
                <a:close/>
              </a:path>
            </a:pathLst>
          </a:custGeom>
          <a:blipFill>
            <a:blip r:embed="rId7"/>
            <a:stretch>
              <a:fillRect l="0" t="0" r="0" b="0"/>
            </a:stretch>
          </a:blipFill>
        </p:spPr>
      </p:sp>
      <p:sp>
        <p:nvSpPr>
          <p:cNvPr name="TextBox 6" id="6"/>
          <p:cNvSpPr txBox="true"/>
          <p:nvPr/>
        </p:nvSpPr>
        <p:spPr>
          <a:xfrm rot="0">
            <a:off x="1028700" y="481539"/>
            <a:ext cx="6504845" cy="1919099"/>
          </a:xfrm>
          <a:prstGeom prst="rect">
            <a:avLst/>
          </a:prstGeom>
        </p:spPr>
        <p:txBody>
          <a:bodyPr anchor="t" rtlCol="false" tIns="0" lIns="0" bIns="0" rIns="0">
            <a:spAutoFit/>
          </a:bodyPr>
          <a:lstStyle/>
          <a:p>
            <a:pPr algn="l">
              <a:lnSpc>
                <a:spcPts val="4814"/>
              </a:lnSpc>
            </a:pPr>
            <a:r>
              <a:rPr lang="en-US" sz="6506" spc="-325" b="true">
                <a:solidFill>
                  <a:srgbClr val="D9D9E3"/>
                </a:solidFill>
                <a:latin typeface="Helvetica World Bold"/>
                <a:ea typeface="Helvetica World Bold"/>
                <a:cs typeface="Helvetica World Bold"/>
                <a:sym typeface="Helvetica World Bold"/>
              </a:rPr>
              <a:t>Antarmuka dApp Aset Kampus</a:t>
            </a:r>
          </a:p>
          <a:p>
            <a:pPr algn="l" marL="0" indent="0" lvl="0">
              <a:lnSpc>
                <a:spcPts val="4814"/>
              </a:lnSpc>
            </a:pPr>
          </a:p>
        </p:txBody>
      </p:sp>
      <p:sp>
        <p:nvSpPr>
          <p:cNvPr name="TextBox 7" id="7"/>
          <p:cNvSpPr txBox="true"/>
          <p:nvPr/>
        </p:nvSpPr>
        <p:spPr>
          <a:xfrm rot="0">
            <a:off x="9103509" y="7773731"/>
            <a:ext cx="4996837" cy="1727368"/>
          </a:xfrm>
          <a:prstGeom prst="rect">
            <a:avLst/>
          </a:prstGeom>
        </p:spPr>
        <p:txBody>
          <a:bodyPr anchor="t" rtlCol="false" tIns="0" lIns="0" bIns="0" rIns="0">
            <a:spAutoFit/>
          </a:bodyPr>
          <a:lstStyle/>
          <a:p>
            <a:pPr algn="ctr">
              <a:lnSpc>
                <a:spcPts val="2772"/>
              </a:lnSpc>
              <a:spcBef>
                <a:spcPct val="0"/>
              </a:spcBef>
            </a:pPr>
            <a:r>
              <a:rPr lang="en-US" b="true" sz="1980">
                <a:solidFill>
                  <a:srgbClr val="B4B4B4"/>
                </a:solidFill>
                <a:latin typeface="Canva Sans Bold"/>
                <a:ea typeface="Canva Sans Bold"/>
                <a:cs typeface="Canva Sans Bold"/>
                <a:sym typeface="Canva Sans Bold"/>
              </a:rPr>
              <a:t>Dashb</a:t>
            </a:r>
            <a:r>
              <a:rPr lang="en-US" b="true" sz="1980">
                <a:solidFill>
                  <a:srgbClr val="B4B4B4"/>
                </a:solidFill>
                <a:latin typeface="Canva Sans Bold"/>
                <a:ea typeface="Canva Sans Bold"/>
                <a:cs typeface="Canva Sans Bold"/>
                <a:sym typeface="Canva Sans Bold"/>
              </a:rPr>
              <a:t>oard Overview yang terdiri dari:</a:t>
            </a:r>
          </a:p>
          <a:p>
            <a:pPr algn="l" marL="427600" indent="-213800" lvl="1">
              <a:lnSpc>
                <a:spcPts val="2772"/>
              </a:lnSpc>
              <a:spcBef>
                <a:spcPct val="0"/>
              </a:spcBef>
              <a:buFont typeface="Arial"/>
              <a:buChar char="•"/>
            </a:pPr>
            <a:r>
              <a:rPr lang="en-US" b="true" sz="1980">
                <a:solidFill>
                  <a:srgbClr val="B4B4B4"/>
                </a:solidFill>
                <a:latin typeface="Canva Sans Bold"/>
                <a:ea typeface="Canva Sans Bold"/>
                <a:cs typeface="Canva Sans Bold"/>
                <a:sym typeface="Canva Sans Bold"/>
              </a:rPr>
              <a:t>pinjam aset</a:t>
            </a:r>
          </a:p>
          <a:p>
            <a:pPr algn="l" marL="427600" indent="-213800" lvl="1">
              <a:lnSpc>
                <a:spcPts val="2772"/>
              </a:lnSpc>
              <a:spcBef>
                <a:spcPct val="0"/>
              </a:spcBef>
              <a:buFont typeface="Arial"/>
              <a:buChar char="•"/>
            </a:pPr>
            <a:r>
              <a:rPr lang="en-US" b="true" sz="1980">
                <a:solidFill>
                  <a:srgbClr val="B4B4B4"/>
                </a:solidFill>
                <a:latin typeface="Canva Sans Bold"/>
                <a:ea typeface="Canva Sans Bold"/>
                <a:cs typeface="Canva Sans Bold"/>
                <a:sym typeface="Canva Sans Bold"/>
              </a:rPr>
              <a:t>pengembalian aset</a:t>
            </a:r>
          </a:p>
          <a:p>
            <a:pPr algn="l" marL="427600" indent="-213800" lvl="1">
              <a:lnSpc>
                <a:spcPts val="2772"/>
              </a:lnSpc>
              <a:spcBef>
                <a:spcPct val="0"/>
              </a:spcBef>
              <a:buFont typeface="Arial"/>
              <a:buChar char="•"/>
            </a:pPr>
            <a:r>
              <a:rPr lang="en-US" b="true" sz="1980">
                <a:solidFill>
                  <a:srgbClr val="B4B4B4"/>
                </a:solidFill>
                <a:latin typeface="Canva Sans Bold"/>
                <a:ea typeface="Canva Sans Bold"/>
                <a:cs typeface="Canva Sans Bold"/>
                <a:sym typeface="Canva Sans Bold"/>
              </a:rPr>
              <a:t>riwayat peminjaman</a:t>
            </a:r>
          </a:p>
          <a:p>
            <a:pPr algn="l" marL="427600" indent="-213800" lvl="1">
              <a:lnSpc>
                <a:spcPts val="2772"/>
              </a:lnSpc>
              <a:spcBef>
                <a:spcPct val="0"/>
              </a:spcBef>
              <a:buFont typeface="Arial"/>
              <a:buChar char="•"/>
            </a:pPr>
            <a:r>
              <a:rPr lang="en-US" b="true" sz="1980">
                <a:solidFill>
                  <a:srgbClr val="B4B4B4"/>
                </a:solidFill>
                <a:latin typeface="Canva Sans Bold"/>
                <a:ea typeface="Canva Sans Bold"/>
                <a:cs typeface="Canva Sans Bold"/>
                <a:sym typeface="Canva Sans Bold"/>
              </a:rPr>
              <a:t>admin approval ( khusus admin)</a:t>
            </a:r>
          </a:p>
        </p:txBody>
      </p:sp>
      <p:sp>
        <p:nvSpPr>
          <p:cNvPr name="TextBox 8" id="8"/>
          <p:cNvSpPr txBox="true"/>
          <p:nvPr/>
        </p:nvSpPr>
        <p:spPr>
          <a:xfrm rot="0">
            <a:off x="2909490" y="7773731"/>
            <a:ext cx="4996837" cy="1031538"/>
          </a:xfrm>
          <a:prstGeom prst="rect">
            <a:avLst/>
          </a:prstGeom>
        </p:spPr>
        <p:txBody>
          <a:bodyPr anchor="t" rtlCol="false" tIns="0" lIns="0" bIns="0" rIns="0">
            <a:spAutoFit/>
          </a:bodyPr>
          <a:lstStyle/>
          <a:p>
            <a:pPr algn="ctr">
              <a:lnSpc>
                <a:spcPts val="2772"/>
              </a:lnSpc>
            </a:pPr>
            <a:r>
              <a:rPr lang="en-US" sz="1980" b="true">
                <a:solidFill>
                  <a:srgbClr val="B4B4B4"/>
                </a:solidFill>
                <a:latin typeface="Canva Sans Bold"/>
                <a:ea typeface="Canva Sans Bold"/>
                <a:cs typeface="Canva Sans Bold"/>
                <a:sym typeface="Canva Sans Bold"/>
              </a:rPr>
              <a:t>Halaman login untuk dApp aset kampus </a:t>
            </a:r>
          </a:p>
          <a:p>
            <a:pPr algn="l" marL="427600" indent="-213800" lvl="1">
              <a:lnSpc>
                <a:spcPts val="2772"/>
              </a:lnSpc>
              <a:buFont typeface="Arial"/>
              <a:buChar char="•"/>
            </a:pPr>
            <a:r>
              <a:rPr lang="en-US" b="true" sz="1980">
                <a:solidFill>
                  <a:srgbClr val="B4B4B4"/>
                </a:solidFill>
                <a:latin typeface="Canva Sans Bold"/>
                <a:ea typeface="Canva Sans Bold"/>
                <a:cs typeface="Canva Sans Bold"/>
                <a:sym typeface="Canva Sans Bold"/>
              </a:rPr>
              <a:t>nama lengkap </a:t>
            </a:r>
          </a:p>
          <a:p>
            <a:pPr algn="l" marL="427600" indent="-213800" lvl="1">
              <a:lnSpc>
                <a:spcPts val="2772"/>
              </a:lnSpc>
              <a:spcBef>
                <a:spcPct val="0"/>
              </a:spcBef>
              <a:buFont typeface="Arial"/>
              <a:buChar char="•"/>
            </a:pPr>
            <a:r>
              <a:rPr lang="en-US" b="true" sz="1980">
                <a:solidFill>
                  <a:srgbClr val="B4B4B4"/>
                </a:solidFill>
                <a:latin typeface="Canva Sans Bold"/>
                <a:ea typeface="Canva Sans Bold"/>
                <a:cs typeface="Canva Sans Bold"/>
                <a:sym typeface="Canva Sans Bold"/>
              </a:rPr>
              <a:t>dan nim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Freeform 2" id="2"/>
          <p:cNvSpPr/>
          <p:nvPr/>
        </p:nvSpPr>
        <p:spPr>
          <a:xfrm flipH="false" flipV="false" rot="0">
            <a:off x="8573454" y="1302976"/>
            <a:ext cx="1060110" cy="877000"/>
          </a:xfrm>
          <a:custGeom>
            <a:avLst/>
            <a:gdLst/>
            <a:ahLst/>
            <a:cxnLst/>
            <a:rect r="r" b="b" t="t" l="l"/>
            <a:pathLst>
              <a:path h="877000" w="1060110">
                <a:moveTo>
                  <a:pt x="0" y="0"/>
                </a:moveTo>
                <a:lnTo>
                  <a:pt x="1060110" y="0"/>
                </a:lnTo>
                <a:lnTo>
                  <a:pt x="1060110" y="877000"/>
                </a:lnTo>
                <a:lnTo>
                  <a:pt x="0" y="87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664974" y="52213"/>
            <a:ext cx="6504845" cy="1689263"/>
          </a:xfrm>
          <a:prstGeom prst="rect">
            <a:avLst/>
          </a:prstGeom>
        </p:spPr>
        <p:txBody>
          <a:bodyPr anchor="t" rtlCol="false" tIns="0" lIns="0" bIns="0" rIns="0">
            <a:spAutoFit/>
          </a:bodyPr>
          <a:lstStyle/>
          <a:p>
            <a:pPr algn="l">
              <a:lnSpc>
                <a:spcPts val="6506"/>
              </a:lnSpc>
            </a:pPr>
            <a:r>
              <a:rPr lang="en-US" sz="6506" spc="-325" b="true">
                <a:solidFill>
                  <a:srgbClr val="D9D9E3"/>
                </a:solidFill>
                <a:latin typeface="Helvetica World Bold"/>
                <a:ea typeface="Helvetica World Bold"/>
                <a:cs typeface="Helvetica World Bold"/>
                <a:sym typeface="Helvetica World Bold"/>
              </a:rPr>
              <a:t>Pengujian </a:t>
            </a:r>
          </a:p>
          <a:p>
            <a:pPr algn="l" marL="0" indent="0" lvl="0">
              <a:lnSpc>
                <a:spcPts val="6506"/>
              </a:lnSpc>
            </a:pPr>
            <a:r>
              <a:rPr lang="en-US" b="true" sz="6506" spc="-325">
                <a:solidFill>
                  <a:srgbClr val="D9D9E3"/>
                </a:solidFill>
                <a:latin typeface="Helvetica World Bold"/>
                <a:ea typeface="Helvetica World Bold"/>
                <a:cs typeface="Helvetica World Bold"/>
                <a:sym typeface="Helvetica World Bold"/>
              </a:rPr>
              <a:t>Fungsional</a:t>
            </a:r>
          </a:p>
        </p:txBody>
      </p:sp>
      <p:sp>
        <p:nvSpPr>
          <p:cNvPr name="TextBox 4" id="4"/>
          <p:cNvSpPr txBox="true"/>
          <p:nvPr/>
        </p:nvSpPr>
        <p:spPr>
          <a:xfrm rot="0">
            <a:off x="1028700" y="2342928"/>
            <a:ext cx="12273396" cy="902749"/>
          </a:xfrm>
          <a:prstGeom prst="rect">
            <a:avLst/>
          </a:prstGeom>
        </p:spPr>
        <p:txBody>
          <a:bodyPr anchor="t" rtlCol="false" tIns="0" lIns="0" bIns="0" rIns="0">
            <a:spAutoFit/>
          </a:bodyPr>
          <a:lstStyle/>
          <a:p>
            <a:pPr algn="l">
              <a:lnSpc>
                <a:spcPts val="2477"/>
              </a:lnSpc>
              <a:spcBef>
                <a:spcPct val="0"/>
              </a:spcBef>
            </a:pPr>
            <a:r>
              <a:rPr lang="en-US" b="true" sz="1769">
                <a:solidFill>
                  <a:srgbClr val="B4B4B4"/>
                </a:solidFill>
                <a:latin typeface="Canva Sans Bold"/>
                <a:ea typeface="Canva Sans Bold"/>
                <a:cs typeface="Canva Sans Bold"/>
                <a:sym typeface="Canva Sans Bold"/>
              </a:rPr>
              <a:t>P</a:t>
            </a:r>
            <a:r>
              <a:rPr lang="en-US" b="true" sz="1769">
                <a:solidFill>
                  <a:srgbClr val="B4B4B4"/>
                </a:solidFill>
                <a:latin typeface="Canva Sans Bold"/>
                <a:ea typeface="Canva Sans Bold"/>
                <a:cs typeface="Canva Sans Bold"/>
                <a:sym typeface="Canva Sans Bold"/>
              </a:rPr>
              <a:t>engujian dilakukan untuk memastikan seluruh fungsi utama </a:t>
            </a:r>
            <a:r>
              <a:rPr lang="en-US" b="true" sz="1769">
                <a:solidFill>
                  <a:srgbClr val="B4B4B4"/>
                </a:solidFill>
                <a:latin typeface="Canva Sans Bold"/>
                <a:ea typeface="Canva Sans Bold"/>
                <a:cs typeface="Canva Sans Bold"/>
                <a:sym typeface="Canva Sans Bold"/>
              </a:rPr>
              <a:t>pada smart contract dapat berjalan sesuai dengan kebutuhan sistem. Pengujian dilakukan menggunakan Remix IDE, MetaMask, dan jaringan Ethereum Sepolia Testnet.</a:t>
            </a:r>
          </a:p>
        </p:txBody>
      </p:sp>
      <p:graphicFrame>
        <p:nvGraphicFramePr>
          <p:cNvPr name="Table 5" id="5"/>
          <p:cNvGraphicFramePr>
            <a:graphicFrameLocks noGrp="true"/>
          </p:cNvGraphicFramePr>
          <p:nvPr/>
        </p:nvGraphicFramePr>
        <p:xfrm>
          <a:off x="1028700" y="3436177"/>
          <a:ext cx="12119084" cy="6238084"/>
        </p:xfrm>
        <a:graphic>
          <a:graphicData uri="http://schemas.openxmlformats.org/drawingml/2006/table">
            <a:tbl>
              <a:tblPr/>
              <a:tblGrid>
                <a:gridCol w="384858"/>
                <a:gridCol w="2933557"/>
                <a:gridCol w="2933557"/>
                <a:gridCol w="2933557"/>
                <a:gridCol w="2933557"/>
              </a:tblGrid>
              <a:tr h="750880">
                <a:tc>
                  <a:txBody>
                    <a:bodyPr anchor="t" rtlCol="false"/>
                    <a:lstStyle/>
                    <a:p>
                      <a:pPr algn="ctr">
                        <a:lnSpc>
                          <a:spcPts val="1380"/>
                        </a:lnSpc>
                        <a:defRPr/>
                      </a:pPr>
                      <a:r>
                        <a:rPr lang="en-US" b="true" sz="1000">
                          <a:solidFill>
                            <a:srgbClr val="FFFFFF"/>
                          </a:solidFill>
                          <a:latin typeface="Open Sans Bold"/>
                          <a:ea typeface="Open Sans Bold"/>
                          <a:cs typeface="Open Sans Bold"/>
                          <a:sym typeface="Open Sans Bold"/>
                        </a:rPr>
                        <a:t>No</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ctr">
                        <a:lnSpc>
                          <a:spcPts val="1380"/>
                        </a:lnSpc>
                        <a:defRPr/>
                      </a:pPr>
                      <a:r>
                        <a:rPr lang="en-US" b="true" sz="1000">
                          <a:solidFill>
                            <a:srgbClr val="FFFFFF"/>
                          </a:solidFill>
                          <a:latin typeface="Open Sans Bold"/>
                          <a:ea typeface="Open Sans Bold"/>
                          <a:cs typeface="Open Sans Bold"/>
                          <a:sym typeface="Open Sans Bold"/>
                        </a:rPr>
                        <a:t>Skenario Uji</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ctr">
                        <a:lnSpc>
                          <a:spcPts val="1380"/>
                        </a:lnSpc>
                        <a:defRPr/>
                      </a:pPr>
                      <a:r>
                        <a:rPr lang="en-US" b="true" sz="1000">
                          <a:solidFill>
                            <a:srgbClr val="FFFFFF"/>
                          </a:solidFill>
                          <a:latin typeface="Open Sans Bold"/>
                          <a:ea typeface="Open Sans Bold"/>
                          <a:cs typeface="Open Sans Bold"/>
                          <a:sym typeface="Open Sans Bold"/>
                        </a:rPr>
                        <a:t>Hasil</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ctr">
                        <a:lnSpc>
                          <a:spcPts val="1380"/>
                        </a:lnSpc>
                        <a:defRPr/>
                      </a:pPr>
                      <a:r>
                        <a:rPr lang="en-US" b="true" sz="1000">
                          <a:solidFill>
                            <a:srgbClr val="FFFFFF"/>
                          </a:solidFill>
                          <a:latin typeface="Open Sans Bold"/>
                          <a:ea typeface="Open Sans Bold"/>
                          <a:cs typeface="Open Sans Bold"/>
                          <a:sym typeface="Open Sans Bold"/>
                        </a:rPr>
                        <a:t>Hasil Aktual</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ctr">
                        <a:lnSpc>
                          <a:spcPts val="1380"/>
                        </a:lnSpc>
                        <a:defRPr/>
                      </a:pPr>
                      <a:r>
                        <a:rPr lang="en-US" b="true" sz="1000">
                          <a:solidFill>
                            <a:srgbClr val="FFFFFF"/>
                          </a:solidFill>
                          <a:latin typeface="Open Sans Bold"/>
                          <a:ea typeface="Open Sans Bold"/>
                          <a:cs typeface="Open Sans Bold"/>
                          <a:sym typeface="Open Sans Bold"/>
                        </a:rPr>
                        <a:t>Status</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1097441">
                <a:tc>
                  <a:txBody>
                    <a:bodyPr anchor="t" rtlCol="false"/>
                    <a:lstStyle/>
                    <a:p>
                      <a:pPr algn="r">
                        <a:lnSpc>
                          <a:spcPts val="1400"/>
                        </a:lnSpc>
                        <a:defRPr/>
                      </a:pPr>
                      <a:r>
                        <a:rPr lang="en-US" sz="1000">
                          <a:solidFill>
                            <a:srgbClr val="FFFFFF"/>
                          </a:solidFill>
                          <a:latin typeface="Open Sans"/>
                          <a:ea typeface="Open Sans"/>
                          <a:cs typeface="Open Sans"/>
                          <a:sym typeface="Open Sans"/>
                        </a:rPr>
                        <a:t>1</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Admin menambahkan aset baru menggunakan addAsset()</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ctr">
                        <a:lnSpc>
                          <a:spcPts val="1380"/>
                        </a:lnSpc>
                        <a:defRPr/>
                      </a:pPr>
                      <a:r>
                        <a:rPr lang="en-US" sz="1000">
                          <a:solidFill>
                            <a:srgbClr val="FFFFFF"/>
                          </a:solidFill>
                          <a:latin typeface="Open Sans"/>
                          <a:ea typeface="Open Sans"/>
                          <a:cs typeface="Open Sans"/>
                          <a:sym typeface="Open Sans"/>
                        </a:rPr>
                        <a:t> </a:t>
                      </a:r>
                      <a:endParaRPr lang="en-US" sz="1100"/>
                    </a:p>
                    <a:p>
                      <a:pPr algn="l">
                        <a:lnSpc>
                          <a:spcPts val="1380"/>
                        </a:lnSpc>
                      </a:pPr>
                      <a:r>
                        <a:rPr lang="en-US" sz="1000">
                          <a:solidFill>
                            <a:srgbClr val="FFFFFF"/>
                          </a:solidFill>
                          <a:latin typeface="Open Sans"/>
                          <a:ea typeface="Open Sans"/>
                          <a:cs typeface="Open Sans"/>
                          <a:sym typeface="Open Sans"/>
                        </a:rPr>
                        <a:t>Aset berhasil ditambahkan</a:t>
                      </a:r>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Aset berhasil masuk ke blockchain</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ctr">
                        <a:lnSpc>
                          <a:spcPts val="1380"/>
                        </a:lnSpc>
                        <a:defRPr/>
                      </a:pPr>
                      <a:r>
                        <a:rPr lang="en-US" sz="1000">
                          <a:solidFill>
                            <a:srgbClr val="FFFFFF"/>
                          </a:solidFill>
                          <a:latin typeface="Open Sans"/>
                          <a:ea typeface="Open Sans"/>
                          <a:cs typeface="Open Sans"/>
                          <a:sym typeface="Open Sans"/>
                        </a:rPr>
                        <a:t> </a:t>
                      </a:r>
                      <a:endParaRPr lang="en-US" sz="1100"/>
                    </a:p>
                    <a:p>
                      <a:pPr algn="ctr">
                        <a:lnSpc>
                          <a:spcPts val="1380"/>
                        </a:lnSpc>
                      </a:pPr>
                      <a:r>
                        <a:rPr lang="en-US" sz="1000">
                          <a:solidFill>
                            <a:srgbClr val="FFFFFF"/>
                          </a:solidFill>
                          <a:latin typeface="Open Sans"/>
                          <a:ea typeface="Open Sans"/>
                          <a:cs typeface="Open Sans"/>
                          <a:sym typeface="Open Sans"/>
                        </a:rPr>
                        <a:t>Sukses</a:t>
                      </a:r>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1097441">
                <a:tc>
                  <a:txBody>
                    <a:bodyPr anchor="t" rtlCol="false"/>
                    <a:lstStyle/>
                    <a:p>
                      <a:pPr algn="r">
                        <a:lnSpc>
                          <a:spcPts val="1400"/>
                        </a:lnSpc>
                        <a:defRPr/>
                      </a:pPr>
                      <a:r>
                        <a:rPr lang="en-US" sz="1000">
                          <a:solidFill>
                            <a:srgbClr val="FFFFFF"/>
                          </a:solidFill>
                          <a:latin typeface="Open Sans"/>
                          <a:ea typeface="Open Sans"/>
                          <a:cs typeface="Open Sans"/>
                          <a:sym typeface="Open Sans"/>
                        </a:rPr>
                        <a:t>2</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User mengajukan peminjaman aset menggunakan requestBorrow()</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 </a:t>
                      </a:r>
                      <a:endParaRPr lang="en-US" sz="1100"/>
                    </a:p>
                    <a:p>
                      <a:pPr algn="just">
                        <a:lnSpc>
                          <a:spcPts val="1380"/>
                        </a:lnSpc>
                      </a:pPr>
                      <a:r>
                        <a:rPr lang="en-US" sz="1000">
                          <a:solidFill>
                            <a:srgbClr val="FFFFFF"/>
                          </a:solidFill>
                          <a:latin typeface="Open Sans"/>
                          <a:ea typeface="Open Sans"/>
                          <a:cs typeface="Open Sans"/>
                          <a:sym typeface="Open Sans"/>
                        </a:rPr>
                        <a:t>Permintaan berhasil dibuat</a:t>
                      </a:r>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 </a:t>
                      </a:r>
                      <a:endParaRPr lang="en-US" sz="1100"/>
                    </a:p>
                    <a:p>
                      <a:pPr algn="just">
                        <a:lnSpc>
                          <a:spcPts val="1380"/>
                        </a:lnSpc>
                      </a:pPr>
                      <a:r>
                        <a:rPr lang="en-US" sz="1000">
                          <a:solidFill>
                            <a:srgbClr val="FFFFFF"/>
                          </a:solidFill>
                          <a:latin typeface="Open Sans"/>
                          <a:ea typeface="Open Sans"/>
                          <a:cs typeface="Open Sans"/>
                          <a:sym typeface="Open Sans"/>
                        </a:rPr>
                        <a:t>Permintaan berhasil tercatat</a:t>
                      </a:r>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ctr">
                        <a:lnSpc>
                          <a:spcPts val="1380"/>
                        </a:lnSpc>
                        <a:defRPr/>
                      </a:pPr>
                      <a:r>
                        <a:rPr lang="en-US" sz="1000">
                          <a:solidFill>
                            <a:srgbClr val="FFFFFF"/>
                          </a:solidFill>
                          <a:latin typeface="Open Sans"/>
                          <a:ea typeface="Open Sans"/>
                          <a:cs typeface="Open Sans"/>
                          <a:sym typeface="Open Sans"/>
                        </a:rPr>
                        <a:t> </a:t>
                      </a:r>
                      <a:endParaRPr lang="en-US" sz="1100"/>
                    </a:p>
                    <a:p>
                      <a:pPr algn="ctr">
                        <a:lnSpc>
                          <a:spcPts val="1380"/>
                        </a:lnSpc>
                      </a:pPr>
                      <a:r>
                        <a:rPr lang="en-US" sz="1000">
                          <a:solidFill>
                            <a:srgbClr val="FFFFFF"/>
                          </a:solidFill>
                          <a:latin typeface="Open Sans"/>
                          <a:ea typeface="Open Sans"/>
                          <a:cs typeface="Open Sans"/>
                          <a:sym typeface="Open Sans"/>
                        </a:rPr>
                        <a:t>Sukses</a:t>
                      </a:r>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1097441">
                <a:tc>
                  <a:txBody>
                    <a:bodyPr anchor="t" rtlCol="false"/>
                    <a:lstStyle/>
                    <a:p>
                      <a:pPr algn="r">
                        <a:lnSpc>
                          <a:spcPts val="1400"/>
                        </a:lnSpc>
                        <a:defRPr/>
                      </a:pPr>
                      <a:r>
                        <a:rPr lang="en-US" sz="1000">
                          <a:solidFill>
                            <a:srgbClr val="FFFFFF"/>
                          </a:solidFill>
                          <a:latin typeface="Open Sans"/>
                          <a:ea typeface="Open Sans"/>
                          <a:cs typeface="Open Sans"/>
                          <a:sym typeface="Open Sans"/>
                        </a:rPr>
                        <a:t>3</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Admin menyetujui peminjaman menggunakan approveBorrow()</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Status aset menjadi dipinjam</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Status berhasil berubah menjadi dipinjam</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ctr">
                        <a:lnSpc>
                          <a:spcPts val="1380"/>
                        </a:lnSpc>
                        <a:defRPr/>
                      </a:pPr>
                      <a:r>
                        <a:rPr lang="en-US" sz="1000">
                          <a:solidFill>
                            <a:srgbClr val="FFFFFF"/>
                          </a:solidFill>
                          <a:latin typeface="Open Sans"/>
                          <a:ea typeface="Open Sans"/>
                          <a:cs typeface="Open Sans"/>
                          <a:sym typeface="Open Sans"/>
                        </a:rPr>
                        <a:t> </a:t>
                      </a:r>
                      <a:endParaRPr lang="en-US" sz="1100"/>
                    </a:p>
                    <a:p>
                      <a:pPr algn="ctr">
                        <a:lnSpc>
                          <a:spcPts val="1380"/>
                        </a:lnSpc>
                      </a:pPr>
                      <a:r>
                        <a:rPr lang="en-US" sz="1000">
                          <a:solidFill>
                            <a:srgbClr val="FFFFFF"/>
                          </a:solidFill>
                          <a:latin typeface="Open Sans"/>
                          <a:ea typeface="Open Sans"/>
                          <a:cs typeface="Open Sans"/>
                          <a:sym typeface="Open Sans"/>
                        </a:rPr>
                        <a:t>Sukses</a:t>
                      </a:r>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1097441">
                <a:tc>
                  <a:txBody>
                    <a:bodyPr anchor="t" rtlCol="false"/>
                    <a:lstStyle/>
                    <a:p>
                      <a:pPr algn="r">
                        <a:lnSpc>
                          <a:spcPts val="1400"/>
                        </a:lnSpc>
                        <a:defRPr/>
                      </a:pPr>
                      <a:r>
                        <a:rPr lang="en-US" sz="1000">
                          <a:solidFill>
                            <a:srgbClr val="FFFFFF"/>
                          </a:solidFill>
                          <a:latin typeface="Open Sans"/>
                          <a:ea typeface="Open Sans"/>
                          <a:cs typeface="Open Sans"/>
                          <a:sym typeface="Open Sans"/>
                        </a:rPr>
                        <a:t>4</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User mencoba meminjam aset yang sedang dipinjam</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Sistem menolak transaksi</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Muncul pesan “Aset sedang tidak tersedia”</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ctr">
                        <a:lnSpc>
                          <a:spcPts val="1380"/>
                        </a:lnSpc>
                        <a:defRPr/>
                      </a:pPr>
                      <a:r>
                        <a:rPr lang="en-US" sz="1000">
                          <a:solidFill>
                            <a:srgbClr val="FFFFFF"/>
                          </a:solidFill>
                          <a:latin typeface="Open Sans"/>
                          <a:ea typeface="Open Sans"/>
                          <a:cs typeface="Open Sans"/>
                          <a:sym typeface="Open Sans"/>
                        </a:rPr>
                        <a:t> </a:t>
                      </a:r>
                      <a:endParaRPr lang="en-US" sz="1100"/>
                    </a:p>
                    <a:p>
                      <a:pPr algn="ctr">
                        <a:lnSpc>
                          <a:spcPts val="1380"/>
                        </a:lnSpc>
                      </a:pPr>
                      <a:r>
                        <a:rPr lang="en-US" sz="1000">
                          <a:solidFill>
                            <a:srgbClr val="FFFFFF"/>
                          </a:solidFill>
                          <a:latin typeface="Open Sans"/>
                          <a:ea typeface="Open Sans"/>
                          <a:cs typeface="Open Sans"/>
                          <a:sym typeface="Open Sans"/>
                        </a:rPr>
                        <a:t>Gagal</a:t>
                      </a:r>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1097441">
                <a:tc>
                  <a:txBody>
                    <a:bodyPr anchor="t" rtlCol="false"/>
                    <a:lstStyle/>
                    <a:p>
                      <a:pPr algn="r">
                        <a:lnSpc>
                          <a:spcPts val="1400"/>
                        </a:lnSpc>
                        <a:defRPr/>
                      </a:pPr>
                      <a:r>
                        <a:rPr lang="en-US" sz="1000">
                          <a:solidFill>
                            <a:srgbClr val="FFFFFF"/>
                          </a:solidFill>
                          <a:latin typeface="Open Sans"/>
                          <a:ea typeface="Open Sans"/>
                          <a:cs typeface="Open Sans"/>
                          <a:sym typeface="Open Sans"/>
                        </a:rPr>
                        <a:t>5</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User mengembalikan aset menggunakan returnAsset()</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 </a:t>
                      </a:r>
                      <a:endParaRPr lang="en-US" sz="1100"/>
                    </a:p>
                    <a:p>
                      <a:pPr algn="just">
                        <a:lnSpc>
                          <a:spcPts val="1380"/>
                        </a:lnSpc>
                      </a:pPr>
                      <a:r>
                        <a:rPr lang="en-US" sz="1000">
                          <a:solidFill>
                            <a:srgbClr val="FFFFFF"/>
                          </a:solidFill>
                          <a:latin typeface="Open Sans"/>
                          <a:ea typeface="Open Sans"/>
                          <a:cs typeface="Open Sans"/>
                          <a:sym typeface="Open Sans"/>
                        </a:rPr>
                        <a:t>Status aset kembali tersedia</a:t>
                      </a:r>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just">
                        <a:lnSpc>
                          <a:spcPts val="1380"/>
                        </a:lnSpc>
                        <a:defRPr/>
                      </a:pPr>
                      <a:r>
                        <a:rPr lang="en-US" sz="1000">
                          <a:solidFill>
                            <a:srgbClr val="FFFFFF"/>
                          </a:solidFill>
                          <a:latin typeface="Open Sans"/>
                          <a:ea typeface="Open Sans"/>
                          <a:cs typeface="Open Sans"/>
                          <a:sym typeface="Open Sans"/>
                        </a:rPr>
                        <a:t> </a:t>
                      </a:r>
                      <a:endParaRPr lang="en-US" sz="1100"/>
                    </a:p>
                    <a:p>
                      <a:pPr algn="just">
                        <a:lnSpc>
                          <a:spcPts val="1380"/>
                        </a:lnSpc>
                      </a:pPr>
                      <a:r>
                        <a:rPr lang="en-US" sz="1000">
                          <a:solidFill>
                            <a:srgbClr val="FFFFFF"/>
                          </a:solidFill>
                          <a:latin typeface="Open Sans"/>
                          <a:ea typeface="Open Sans"/>
                          <a:cs typeface="Open Sans"/>
                          <a:sym typeface="Open Sans"/>
                        </a:rPr>
                        <a:t>Aset berhasil dikembalikan</a:t>
                      </a:r>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ctr">
                        <a:lnSpc>
                          <a:spcPts val="1380"/>
                        </a:lnSpc>
                        <a:defRPr/>
                      </a:pPr>
                      <a:r>
                        <a:rPr lang="en-US" sz="1000">
                          <a:solidFill>
                            <a:srgbClr val="FFFFFF"/>
                          </a:solidFill>
                          <a:latin typeface="Open Sans"/>
                          <a:ea typeface="Open Sans"/>
                          <a:cs typeface="Open Sans"/>
                          <a:sym typeface="Open Sans"/>
                        </a:rPr>
                        <a:t> </a:t>
                      </a:r>
                      <a:endParaRPr lang="en-US" sz="1100"/>
                    </a:p>
                    <a:p>
                      <a:pPr algn="ctr">
                        <a:lnSpc>
                          <a:spcPts val="1380"/>
                        </a:lnSpc>
                      </a:pPr>
                      <a:r>
                        <a:rPr lang="en-US" sz="1000">
                          <a:solidFill>
                            <a:srgbClr val="FFFFFF"/>
                          </a:solidFill>
                          <a:latin typeface="Open Sans"/>
                          <a:ea typeface="Open Sans"/>
                          <a:cs typeface="Open Sans"/>
                          <a:sym typeface="Open Sans"/>
                        </a:rPr>
                        <a:t>Sukses</a:t>
                      </a:r>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Freeform 2" id="2"/>
          <p:cNvSpPr/>
          <p:nvPr/>
        </p:nvSpPr>
        <p:spPr>
          <a:xfrm flipH="false" flipV="false" rot="0">
            <a:off x="8573454" y="1302976"/>
            <a:ext cx="1060110" cy="877000"/>
          </a:xfrm>
          <a:custGeom>
            <a:avLst/>
            <a:gdLst/>
            <a:ahLst/>
            <a:cxnLst/>
            <a:rect r="r" b="b" t="t" l="l"/>
            <a:pathLst>
              <a:path h="877000" w="1060110">
                <a:moveTo>
                  <a:pt x="0" y="0"/>
                </a:moveTo>
                <a:lnTo>
                  <a:pt x="1060110" y="0"/>
                </a:lnTo>
                <a:lnTo>
                  <a:pt x="1060110" y="877000"/>
                </a:lnTo>
                <a:lnTo>
                  <a:pt x="0" y="87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030264"/>
            <a:ext cx="8604864" cy="4840236"/>
          </a:xfrm>
          <a:custGeom>
            <a:avLst/>
            <a:gdLst/>
            <a:ahLst/>
            <a:cxnLst/>
            <a:rect r="r" b="b" t="t" l="l"/>
            <a:pathLst>
              <a:path h="4840236" w="8604864">
                <a:moveTo>
                  <a:pt x="0" y="0"/>
                </a:moveTo>
                <a:lnTo>
                  <a:pt x="8604864" y="0"/>
                </a:lnTo>
                <a:lnTo>
                  <a:pt x="8604864" y="4840236"/>
                </a:lnTo>
                <a:lnTo>
                  <a:pt x="0" y="4840236"/>
                </a:lnTo>
                <a:lnTo>
                  <a:pt x="0" y="0"/>
                </a:lnTo>
                <a:close/>
              </a:path>
            </a:pathLst>
          </a:custGeom>
          <a:blipFill>
            <a:blip r:embed="rId4"/>
            <a:stretch>
              <a:fillRect l="0" t="0" r="0" b="0"/>
            </a:stretch>
          </a:blipFill>
        </p:spPr>
      </p:sp>
      <p:sp>
        <p:nvSpPr>
          <p:cNvPr name="Freeform 4" id="4"/>
          <p:cNvSpPr/>
          <p:nvPr/>
        </p:nvSpPr>
        <p:spPr>
          <a:xfrm flipH="false" flipV="false" rot="0">
            <a:off x="7702725" y="3425229"/>
            <a:ext cx="7798404" cy="4386602"/>
          </a:xfrm>
          <a:custGeom>
            <a:avLst/>
            <a:gdLst/>
            <a:ahLst/>
            <a:cxnLst/>
            <a:rect r="r" b="b" t="t" l="l"/>
            <a:pathLst>
              <a:path h="4386602" w="7798404">
                <a:moveTo>
                  <a:pt x="0" y="0"/>
                </a:moveTo>
                <a:lnTo>
                  <a:pt x="7798404" y="0"/>
                </a:lnTo>
                <a:lnTo>
                  <a:pt x="7798404" y="4386602"/>
                </a:lnTo>
                <a:lnTo>
                  <a:pt x="0" y="4386602"/>
                </a:lnTo>
                <a:lnTo>
                  <a:pt x="0" y="0"/>
                </a:lnTo>
                <a:close/>
              </a:path>
            </a:pathLst>
          </a:custGeom>
          <a:blipFill>
            <a:blip r:embed="rId5"/>
            <a:stretch>
              <a:fillRect l="0" t="0" r="0" b="0"/>
            </a:stretch>
          </a:blipFill>
        </p:spPr>
      </p:sp>
      <p:sp>
        <p:nvSpPr>
          <p:cNvPr name="TextBox 5" id="5"/>
          <p:cNvSpPr txBox="true"/>
          <p:nvPr/>
        </p:nvSpPr>
        <p:spPr>
          <a:xfrm rot="0">
            <a:off x="13664974" y="52213"/>
            <a:ext cx="6504845" cy="1689263"/>
          </a:xfrm>
          <a:prstGeom prst="rect">
            <a:avLst/>
          </a:prstGeom>
        </p:spPr>
        <p:txBody>
          <a:bodyPr anchor="t" rtlCol="false" tIns="0" lIns="0" bIns="0" rIns="0">
            <a:spAutoFit/>
          </a:bodyPr>
          <a:lstStyle/>
          <a:p>
            <a:pPr algn="l">
              <a:lnSpc>
                <a:spcPts val="6506"/>
              </a:lnSpc>
            </a:pPr>
            <a:r>
              <a:rPr lang="en-US" sz="6506" spc="-325" b="true">
                <a:solidFill>
                  <a:srgbClr val="D9D9E3"/>
                </a:solidFill>
                <a:latin typeface="Helvetica World Bold"/>
                <a:ea typeface="Helvetica World Bold"/>
                <a:cs typeface="Helvetica World Bold"/>
                <a:sym typeface="Helvetica World Bold"/>
              </a:rPr>
              <a:t>Pengujian </a:t>
            </a:r>
          </a:p>
          <a:p>
            <a:pPr algn="l" marL="0" indent="0" lvl="0">
              <a:lnSpc>
                <a:spcPts val="6506"/>
              </a:lnSpc>
            </a:pPr>
            <a:r>
              <a:rPr lang="en-US" b="true" sz="6506" spc="-325">
                <a:solidFill>
                  <a:srgbClr val="D9D9E3"/>
                </a:solidFill>
                <a:latin typeface="Helvetica World Bold"/>
                <a:ea typeface="Helvetica World Bold"/>
                <a:cs typeface="Helvetica World Bold"/>
                <a:sym typeface="Helvetica World Bold"/>
              </a:rPr>
              <a:t>berhasil</a:t>
            </a:r>
          </a:p>
        </p:txBody>
      </p:sp>
      <p:sp>
        <p:nvSpPr>
          <p:cNvPr name="TextBox 6" id="6"/>
          <p:cNvSpPr txBox="true"/>
          <p:nvPr/>
        </p:nvSpPr>
        <p:spPr>
          <a:xfrm rot="0">
            <a:off x="1028700" y="8133162"/>
            <a:ext cx="12273396" cy="1515496"/>
          </a:xfrm>
          <a:prstGeom prst="rect">
            <a:avLst/>
          </a:prstGeom>
        </p:spPr>
        <p:txBody>
          <a:bodyPr anchor="t" rtlCol="false" tIns="0" lIns="0" bIns="0" rIns="0">
            <a:spAutoFit/>
          </a:bodyPr>
          <a:lstStyle/>
          <a:p>
            <a:pPr algn="l">
              <a:lnSpc>
                <a:spcPts val="2477"/>
              </a:lnSpc>
              <a:spcBef>
                <a:spcPct val="0"/>
              </a:spcBef>
            </a:pPr>
            <a:r>
              <a:rPr lang="en-US" b="true" sz="1769">
                <a:solidFill>
                  <a:srgbClr val="B4B4B4"/>
                </a:solidFill>
                <a:latin typeface="Canva Sans Bold"/>
                <a:ea typeface="Canva Sans Bold"/>
                <a:cs typeface="Canva Sans Bold"/>
                <a:sym typeface="Canva Sans Bold"/>
              </a:rPr>
              <a:t>Proses p</a:t>
            </a:r>
            <a:r>
              <a:rPr lang="en-US" b="true" sz="1769">
                <a:solidFill>
                  <a:srgbClr val="B4B4B4"/>
                </a:solidFill>
                <a:latin typeface="Canva Sans Bold"/>
                <a:ea typeface="Canva Sans Bold"/>
                <a:cs typeface="Canva Sans Bold"/>
                <a:sym typeface="Canva Sans Bold"/>
              </a:rPr>
              <a:t>engujian dApp berhasil dilakukan saat formulir peminjaman dikirim untuk mengeksekusi fungsi requestBorrow </a:t>
            </a:r>
            <a:r>
              <a:rPr lang="en-US" b="true" sz="1769">
                <a:solidFill>
                  <a:srgbClr val="B4B4B4"/>
                </a:solidFill>
                <a:latin typeface="Canva Sans Bold"/>
                <a:ea typeface="Canva Sans Bold"/>
                <a:cs typeface="Canva Sans Bold"/>
                <a:sym typeface="Canva Sans Bold"/>
              </a:rPr>
              <a:t>pada smart contract. MetaMask langsung memproses transaksi di jaringan Sepolia Testnet hingga mendapat konfirmasi penuh. Data pengajuan kini telah resmi tercatat di blockchain dan sistem siap menunggu persetujuan admin.</a:t>
            </a:r>
          </a:p>
          <a:p>
            <a:pPr algn="l">
              <a:lnSpc>
                <a:spcPts val="2477"/>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Freeform 2" id="2"/>
          <p:cNvSpPr/>
          <p:nvPr/>
        </p:nvSpPr>
        <p:spPr>
          <a:xfrm flipH="false" flipV="false" rot="0">
            <a:off x="8573454" y="1302976"/>
            <a:ext cx="1060110" cy="877000"/>
          </a:xfrm>
          <a:custGeom>
            <a:avLst/>
            <a:gdLst/>
            <a:ahLst/>
            <a:cxnLst/>
            <a:rect r="r" b="b" t="t" l="l"/>
            <a:pathLst>
              <a:path h="877000" w="1060110">
                <a:moveTo>
                  <a:pt x="0" y="0"/>
                </a:moveTo>
                <a:lnTo>
                  <a:pt x="1060110" y="0"/>
                </a:lnTo>
                <a:lnTo>
                  <a:pt x="1060110" y="877000"/>
                </a:lnTo>
                <a:lnTo>
                  <a:pt x="0" y="87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24852" y="1946915"/>
            <a:ext cx="8019148" cy="4510771"/>
          </a:xfrm>
          <a:custGeom>
            <a:avLst/>
            <a:gdLst/>
            <a:ahLst/>
            <a:cxnLst/>
            <a:rect r="r" b="b" t="t" l="l"/>
            <a:pathLst>
              <a:path h="4510771" w="8019148">
                <a:moveTo>
                  <a:pt x="0" y="0"/>
                </a:moveTo>
                <a:lnTo>
                  <a:pt x="8019148" y="0"/>
                </a:lnTo>
                <a:lnTo>
                  <a:pt x="8019148" y="4510771"/>
                </a:lnTo>
                <a:lnTo>
                  <a:pt x="0" y="4510771"/>
                </a:lnTo>
                <a:lnTo>
                  <a:pt x="0" y="0"/>
                </a:lnTo>
                <a:close/>
              </a:path>
            </a:pathLst>
          </a:custGeom>
          <a:blipFill>
            <a:blip r:embed="rId4"/>
            <a:stretch>
              <a:fillRect l="0" t="0" r="0" b="0"/>
            </a:stretch>
          </a:blipFill>
        </p:spPr>
      </p:sp>
      <p:sp>
        <p:nvSpPr>
          <p:cNvPr name="Freeform 4" id="4"/>
          <p:cNvSpPr/>
          <p:nvPr/>
        </p:nvSpPr>
        <p:spPr>
          <a:xfrm flipH="false" flipV="false" rot="0">
            <a:off x="7128177" y="2859099"/>
            <a:ext cx="8274861" cy="4654609"/>
          </a:xfrm>
          <a:custGeom>
            <a:avLst/>
            <a:gdLst/>
            <a:ahLst/>
            <a:cxnLst/>
            <a:rect r="r" b="b" t="t" l="l"/>
            <a:pathLst>
              <a:path h="4654609" w="8274861">
                <a:moveTo>
                  <a:pt x="0" y="0"/>
                </a:moveTo>
                <a:lnTo>
                  <a:pt x="8274860" y="0"/>
                </a:lnTo>
                <a:lnTo>
                  <a:pt x="8274860" y="4654609"/>
                </a:lnTo>
                <a:lnTo>
                  <a:pt x="0" y="4654609"/>
                </a:lnTo>
                <a:lnTo>
                  <a:pt x="0" y="0"/>
                </a:lnTo>
                <a:close/>
              </a:path>
            </a:pathLst>
          </a:custGeom>
          <a:blipFill>
            <a:blip r:embed="rId5"/>
            <a:stretch>
              <a:fillRect l="0" t="0" r="0" b="0"/>
            </a:stretch>
          </a:blipFill>
        </p:spPr>
      </p:sp>
      <p:sp>
        <p:nvSpPr>
          <p:cNvPr name="TextBox 5" id="5"/>
          <p:cNvSpPr txBox="true"/>
          <p:nvPr/>
        </p:nvSpPr>
        <p:spPr>
          <a:xfrm rot="0">
            <a:off x="13601490" y="52213"/>
            <a:ext cx="6504845" cy="1689263"/>
          </a:xfrm>
          <a:prstGeom prst="rect">
            <a:avLst/>
          </a:prstGeom>
        </p:spPr>
        <p:txBody>
          <a:bodyPr anchor="t" rtlCol="false" tIns="0" lIns="0" bIns="0" rIns="0">
            <a:spAutoFit/>
          </a:bodyPr>
          <a:lstStyle/>
          <a:p>
            <a:pPr algn="l">
              <a:lnSpc>
                <a:spcPts val="6506"/>
              </a:lnSpc>
            </a:pPr>
            <a:r>
              <a:rPr lang="en-US" sz="6506" spc="-325" b="true">
                <a:solidFill>
                  <a:srgbClr val="D9D9E3"/>
                </a:solidFill>
                <a:latin typeface="Helvetica World Bold"/>
                <a:ea typeface="Helvetica World Bold"/>
                <a:cs typeface="Helvetica World Bold"/>
                <a:sym typeface="Helvetica World Bold"/>
              </a:rPr>
              <a:t>Pengujian </a:t>
            </a:r>
          </a:p>
          <a:p>
            <a:pPr algn="l" marL="0" indent="0" lvl="0">
              <a:lnSpc>
                <a:spcPts val="6506"/>
              </a:lnSpc>
            </a:pPr>
            <a:r>
              <a:rPr lang="en-US" b="true" sz="6506" spc="-325">
                <a:solidFill>
                  <a:srgbClr val="D9D9E3"/>
                </a:solidFill>
                <a:latin typeface="Helvetica World Bold"/>
                <a:ea typeface="Helvetica World Bold"/>
                <a:cs typeface="Helvetica World Bold"/>
                <a:sym typeface="Helvetica World Bold"/>
              </a:rPr>
              <a:t>gagal</a:t>
            </a:r>
          </a:p>
        </p:txBody>
      </p:sp>
      <p:sp>
        <p:nvSpPr>
          <p:cNvPr name="TextBox 6" id="6"/>
          <p:cNvSpPr txBox="true"/>
          <p:nvPr/>
        </p:nvSpPr>
        <p:spPr>
          <a:xfrm rot="0">
            <a:off x="1124852" y="7920595"/>
            <a:ext cx="11409570" cy="1513266"/>
          </a:xfrm>
          <a:prstGeom prst="rect">
            <a:avLst/>
          </a:prstGeom>
        </p:spPr>
        <p:txBody>
          <a:bodyPr anchor="t" rtlCol="false" tIns="0" lIns="0" bIns="0" rIns="0">
            <a:spAutoFit/>
          </a:bodyPr>
          <a:lstStyle/>
          <a:p>
            <a:pPr algn="l">
              <a:lnSpc>
                <a:spcPts val="2489"/>
              </a:lnSpc>
              <a:spcBef>
                <a:spcPct val="0"/>
              </a:spcBef>
            </a:pPr>
            <a:r>
              <a:rPr lang="en-US" b="true" sz="1778">
                <a:solidFill>
                  <a:srgbClr val="B4B4B4"/>
                </a:solidFill>
                <a:latin typeface="Canva Sans Bold"/>
                <a:ea typeface="Canva Sans Bold"/>
                <a:cs typeface="Canva Sans Bold"/>
                <a:sym typeface="Canva Sans Bold"/>
              </a:rPr>
              <a:t>Pengujian dApp menunjukk</a:t>
            </a:r>
            <a:r>
              <a:rPr lang="en-US" b="true" sz="1778">
                <a:solidFill>
                  <a:srgbClr val="B4B4B4"/>
                </a:solidFill>
                <a:latin typeface="Canva Sans Bold"/>
                <a:ea typeface="Canva Sans Bold"/>
                <a:cs typeface="Canva Sans Bold"/>
                <a:sym typeface="Canva Sans Bold"/>
              </a:rPr>
              <a:t>an kegagalan transaksi saat memanggil fungsi requestBorrow. Notifikasi peringatan muncul karena aset dengan k</a:t>
            </a:r>
            <a:r>
              <a:rPr lang="en-US" b="true" sz="1778">
                <a:solidFill>
                  <a:srgbClr val="B4B4B4"/>
                </a:solidFill>
                <a:latin typeface="Canva Sans Bold"/>
                <a:ea typeface="Canva Sans Bold"/>
                <a:cs typeface="Canva Sans Bold"/>
                <a:sym typeface="Canva Sans Bold"/>
              </a:rPr>
              <a:t>ode PRJ-01 sedang tidak tersedia atau belum terdaftar di dalam sistem oleh admin. Hal ini membuktikan bahwa validasi logika pada smart contract berfungsi dengan baik dalam menolak pengajuan pinjaman yang tidak memenuhi syarat data.</a:t>
            </a:r>
          </a:p>
          <a:p>
            <a:pPr algn="l">
              <a:lnSpc>
                <a:spcPts val="248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Freeform 2" id="2"/>
          <p:cNvSpPr/>
          <p:nvPr/>
        </p:nvSpPr>
        <p:spPr>
          <a:xfrm flipH="false" flipV="false" rot="0">
            <a:off x="-2277493" y="4699608"/>
            <a:ext cx="14467786" cy="8312400"/>
          </a:xfrm>
          <a:custGeom>
            <a:avLst/>
            <a:gdLst/>
            <a:ahLst/>
            <a:cxnLst/>
            <a:rect r="r" b="b" t="t" l="l"/>
            <a:pathLst>
              <a:path h="8312400" w="14467786">
                <a:moveTo>
                  <a:pt x="0" y="0"/>
                </a:moveTo>
                <a:lnTo>
                  <a:pt x="14467785" y="0"/>
                </a:lnTo>
                <a:lnTo>
                  <a:pt x="14467785" y="8312400"/>
                </a:lnTo>
                <a:lnTo>
                  <a:pt x="0" y="83124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119022" y="-3146543"/>
            <a:ext cx="13794380" cy="13794380"/>
          </a:xfrm>
          <a:custGeom>
            <a:avLst/>
            <a:gdLst/>
            <a:ahLst/>
            <a:cxnLst/>
            <a:rect r="r" b="b" t="t" l="l"/>
            <a:pathLst>
              <a:path h="13794380" w="13794380">
                <a:moveTo>
                  <a:pt x="13794380" y="0"/>
                </a:moveTo>
                <a:lnTo>
                  <a:pt x="0" y="0"/>
                </a:lnTo>
                <a:lnTo>
                  <a:pt x="0" y="13794380"/>
                </a:lnTo>
                <a:lnTo>
                  <a:pt x="13794380" y="13794380"/>
                </a:lnTo>
                <a:lnTo>
                  <a:pt x="1379438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58663" y="2438171"/>
            <a:ext cx="5589590" cy="11231829"/>
          </a:xfrm>
          <a:custGeom>
            <a:avLst/>
            <a:gdLst/>
            <a:ahLst/>
            <a:cxnLst/>
            <a:rect r="r" b="b" t="t" l="l"/>
            <a:pathLst>
              <a:path h="11231829" w="5589590">
                <a:moveTo>
                  <a:pt x="0" y="0"/>
                </a:moveTo>
                <a:lnTo>
                  <a:pt x="5589589" y="0"/>
                </a:lnTo>
                <a:lnTo>
                  <a:pt x="5589589" y="11231828"/>
                </a:lnTo>
                <a:lnTo>
                  <a:pt x="0" y="112318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5594216" y="8898867"/>
            <a:ext cx="2269942" cy="718867"/>
            <a:chOff x="0" y="0"/>
            <a:chExt cx="641323" cy="203100"/>
          </a:xfrm>
        </p:grpSpPr>
        <p:sp>
          <p:nvSpPr>
            <p:cNvPr name="Freeform 6" id="6"/>
            <p:cNvSpPr/>
            <p:nvPr/>
          </p:nvSpPr>
          <p:spPr>
            <a:xfrm flipH="false" flipV="false" rot="0">
              <a:off x="0" y="0"/>
              <a:ext cx="641323" cy="203100"/>
            </a:xfrm>
            <a:custGeom>
              <a:avLst/>
              <a:gdLst/>
              <a:ahLst/>
              <a:cxnLst/>
              <a:rect r="r" b="b" t="t" l="l"/>
              <a:pathLst>
                <a:path h="203100" w="641323">
                  <a:moveTo>
                    <a:pt x="75034" y="0"/>
                  </a:moveTo>
                  <a:lnTo>
                    <a:pt x="566289" y="0"/>
                  </a:lnTo>
                  <a:cubicBezTo>
                    <a:pt x="586189" y="0"/>
                    <a:pt x="605274" y="7905"/>
                    <a:pt x="619346" y="21977"/>
                  </a:cubicBezTo>
                  <a:cubicBezTo>
                    <a:pt x="633417" y="36048"/>
                    <a:pt x="641323" y="55134"/>
                    <a:pt x="641323" y="75034"/>
                  </a:cubicBezTo>
                  <a:lnTo>
                    <a:pt x="641323" y="128066"/>
                  </a:lnTo>
                  <a:cubicBezTo>
                    <a:pt x="641323" y="147967"/>
                    <a:pt x="633417" y="167052"/>
                    <a:pt x="619346" y="181123"/>
                  </a:cubicBezTo>
                  <a:cubicBezTo>
                    <a:pt x="605274" y="195195"/>
                    <a:pt x="586189" y="203100"/>
                    <a:pt x="566289" y="203100"/>
                  </a:cubicBezTo>
                  <a:lnTo>
                    <a:pt x="75034" y="203100"/>
                  </a:lnTo>
                  <a:cubicBezTo>
                    <a:pt x="55134" y="203100"/>
                    <a:pt x="36048" y="195195"/>
                    <a:pt x="21977" y="181123"/>
                  </a:cubicBezTo>
                  <a:cubicBezTo>
                    <a:pt x="7905" y="167052"/>
                    <a:pt x="0" y="147967"/>
                    <a:pt x="0" y="128066"/>
                  </a:cubicBezTo>
                  <a:lnTo>
                    <a:pt x="0" y="75034"/>
                  </a:lnTo>
                  <a:cubicBezTo>
                    <a:pt x="0" y="55134"/>
                    <a:pt x="7905" y="36048"/>
                    <a:pt x="21977" y="21977"/>
                  </a:cubicBezTo>
                  <a:cubicBezTo>
                    <a:pt x="36048" y="7905"/>
                    <a:pt x="55134" y="0"/>
                    <a:pt x="75034" y="0"/>
                  </a:cubicBezTo>
                  <a:close/>
                </a:path>
              </a:pathLst>
            </a:custGeom>
            <a:ln w="38100" cap="rnd">
              <a:solidFill>
                <a:srgbClr val="6178CE"/>
              </a:solidFill>
              <a:prstDash val="solid"/>
              <a:round/>
            </a:ln>
          </p:spPr>
        </p:sp>
        <p:sp>
          <p:nvSpPr>
            <p:cNvPr name="TextBox 7" id="7"/>
            <p:cNvSpPr txBox="true"/>
            <p:nvPr/>
          </p:nvSpPr>
          <p:spPr>
            <a:xfrm>
              <a:off x="0" y="-38100"/>
              <a:ext cx="641323" cy="2412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933752" y="1953299"/>
            <a:ext cx="1382729" cy="138272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28777" y="0"/>
                  </a:moveTo>
                  <a:lnTo>
                    <a:pt x="684023" y="0"/>
                  </a:lnTo>
                  <a:cubicBezTo>
                    <a:pt x="755144" y="0"/>
                    <a:pt x="812800" y="57656"/>
                    <a:pt x="812800" y="128777"/>
                  </a:cubicBezTo>
                  <a:lnTo>
                    <a:pt x="812800" y="684023"/>
                  </a:lnTo>
                  <a:cubicBezTo>
                    <a:pt x="812800" y="755144"/>
                    <a:pt x="755144" y="812800"/>
                    <a:pt x="684023" y="812800"/>
                  </a:cubicBezTo>
                  <a:lnTo>
                    <a:pt x="128777" y="812800"/>
                  </a:lnTo>
                  <a:cubicBezTo>
                    <a:pt x="57656" y="812800"/>
                    <a:pt x="0" y="755144"/>
                    <a:pt x="0" y="684023"/>
                  </a:cubicBezTo>
                  <a:lnTo>
                    <a:pt x="0" y="128777"/>
                  </a:lnTo>
                  <a:cubicBezTo>
                    <a:pt x="0" y="57656"/>
                    <a:pt x="57656" y="0"/>
                    <a:pt x="128777" y="0"/>
                  </a:cubicBezTo>
                  <a:close/>
                </a:path>
              </a:pathLst>
            </a:custGeom>
            <a:solidFill>
              <a:srgbClr val="6178CE"/>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6177967" y="2186049"/>
            <a:ext cx="894298" cy="917229"/>
          </a:xfrm>
          <a:custGeom>
            <a:avLst/>
            <a:gdLst/>
            <a:ahLst/>
            <a:cxnLst/>
            <a:rect r="r" b="b" t="t" l="l"/>
            <a:pathLst>
              <a:path h="917229" w="894298">
                <a:moveTo>
                  <a:pt x="0" y="0"/>
                </a:moveTo>
                <a:lnTo>
                  <a:pt x="894298" y="0"/>
                </a:lnTo>
                <a:lnTo>
                  <a:pt x="894298" y="917229"/>
                </a:lnTo>
                <a:lnTo>
                  <a:pt x="0" y="9172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p:nvPr/>
        </p:nvGrpSpPr>
        <p:grpSpPr>
          <a:xfrm rot="0">
            <a:off x="7316480" y="4239325"/>
            <a:ext cx="1318263" cy="131826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129202" y="0"/>
                  </a:moveTo>
                  <a:lnTo>
                    <a:pt x="683598" y="0"/>
                  </a:lnTo>
                  <a:cubicBezTo>
                    <a:pt x="754954" y="0"/>
                    <a:pt x="812800" y="57846"/>
                    <a:pt x="812800" y="129202"/>
                  </a:cubicBezTo>
                  <a:lnTo>
                    <a:pt x="812800" y="683598"/>
                  </a:lnTo>
                  <a:cubicBezTo>
                    <a:pt x="812800" y="754954"/>
                    <a:pt x="754954" y="812800"/>
                    <a:pt x="683598" y="812800"/>
                  </a:cubicBezTo>
                  <a:lnTo>
                    <a:pt x="129202" y="812800"/>
                  </a:lnTo>
                  <a:cubicBezTo>
                    <a:pt x="57846" y="812800"/>
                    <a:pt x="0" y="754954"/>
                    <a:pt x="0" y="683598"/>
                  </a:cubicBezTo>
                  <a:lnTo>
                    <a:pt x="0" y="129202"/>
                  </a:lnTo>
                  <a:cubicBezTo>
                    <a:pt x="0" y="57846"/>
                    <a:pt x="57846" y="0"/>
                    <a:pt x="129202" y="0"/>
                  </a:cubicBezTo>
                  <a:close/>
                </a:path>
              </a:pathLst>
            </a:custGeom>
            <a:solidFill>
              <a:srgbClr val="6178CE"/>
            </a:solidFill>
          </p:spPr>
        </p:sp>
        <p:sp>
          <p:nvSpPr>
            <p:cNvPr name="TextBox 14" id="14"/>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7520118" y="4442962"/>
            <a:ext cx="910988" cy="910988"/>
          </a:xfrm>
          <a:custGeom>
            <a:avLst/>
            <a:gdLst/>
            <a:ahLst/>
            <a:cxnLst/>
            <a:rect r="r" b="b" t="t" l="l"/>
            <a:pathLst>
              <a:path h="910988" w="910988">
                <a:moveTo>
                  <a:pt x="0" y="0"/>
                </a:moveTo>
                <a:lnTo>
                  <a:pt x="910988" y="0"/>
                </a:lnTo>
                <a:lnTo>
                  <a:pt x="910988" y="910988"/>
                </a:lnTo>
                <a:lnTo>
                  <a:pt x="0" y="9109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6" id="16"/>
          <p:cNvGrpSpPr/>
          <p:nvPr/>
        </p:nvGrpSpPr>
        <p:grpSpPr>
          <a:xfrm rot="0">
            <a:off x="7953684" y="595448"/>
            <a:ext cx="1174738" cy="117473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85674" y="0"/>
                  </a:moveTo>
                  <a:lnTo>
                    <a:pt x="727126" y="0"/>
                  </a:lnTo>
                  <a:cubicBezTo>
                    <a:pt x="749848" y="0"/>
                    <a:pt x="771639" y="9026"/>
                    <a:pt x="787707" y="25093"/>
                  </a:cubicBezTo>
                  <a:cubicBezTo>
                    <a:pt x="803774" y="41161"/>
                    <a:pt x="812800" y="62952"/>
                    <a:pt x="812800" y="85674"/>
                  </a:cubicBezTo>
                  <a:lnTo>
                    <a:pt x="812800" y="727126"/>
                  </a:lnTo>
                  <a:cubicBezTo>
                    <a:pt x="812800" y="749848"/>
                    <a:pt x="803774" y="771639"/>
                    <a:pt x="787707" y="787707"/>
                  </a:cubicBezTo>
                  <a:cubicBezTo>
                    <a:pt x="771639" y="803774"/>
                    <a:pt x="749848" y="812800"/>
                    <a:pt x="727126" y="812800"/>
                  </a:cubicBezTo>
                  <a:lnTo>
                    <a:pt x="85674" y="812800"/>
                  </a:lnTo>
                  <a:cubicBezTo>
                    <a:pt x="62952" y="812800"/>
                    <a:pt x="41161" y="803774"/>
                    <a:pt x="25093" y="787707"/>
                  </a:cubicBezTo>
                  <a:cubicBezTo>
                    <a:pt x="9026" y="771639"/>
                    <a:pt x="0" y="749848"/>
                    <a:pt x="0" y="727126"/>
                  </a:cubicBezTo>
                  <a:lnTo>
                    <a:pt x="0" y="85674"/>
                  </a:lnTo>
                  <a:cubicBezTo>
                    <a:pt x="0" y="62952"/>
                    <a:pt x="9026" y="41161"/>
                    <a:pt x="25093" y="25093"/>
                  </a:cubicBezTo>
                  <a:cubicBezTo>
                    <a:pt x="41161" y="9026"/>
                    <a:pt x="62952" y="0"/>
                    <a:pt x="85674" y="0"/>
                  </a:cubicBezTo>
                  <a:close/>
                </a:path>
              </a:pathLst>
            </a:custGeom>
            <a:solidFill>
              <a:srgbClr val="6178CE"/>
            </a:solidFill>
          </p:spPr>
        </p:sp>
        <p:sp>
          <p:nvSpPr>
            <p:cNvPr name="TextBox 18" id="18"/>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8104257" y="821468"/>
            <a:ext cx="873592" cy="722699"/>
          </a:xfrm>
          <a:custGeom>
            <a:avLst/>
            <a:gdLst/>
            <a:ahLst/>
            <a:cxnLst/>
            <a:rect r="r" b="b" t="t" l="l"/>
            <a:pathLst>
              <a:path h="722699" w="873592">
                <a:moveTo>
                  <a:pt x="0" y="0"/>
                </a:moveTo>
                <a:lnTo>
                  <a:pt x="873592" y="0"/>
                </a:lnTo>
                <a:lnTo>
                  <a:pt x="873592" y="722699"/>
                </a:lnTo>
                <a:lnTo>
                  <a:pt x="0" y="72269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0">
            <a:off x="9625343" y="1949831"/>
            <a:ext cx="3603486" cy="2827044"/>
          </a:xfrm>
          <a:custGeom>
            <a:avLst/>
            <a:gdLst/>
            <a:ahLst/>
            <a:cxnLst/>
            <a:rect r="r" b="b" t="t" l="l"/>
            <a:pathLst>
              <a:path h="2827044" w="3603486">
                <a:moveTo>
                  <a:pt x="0" y="0"/>
                </a:moveTo>
                <a:lnTo>
                  <a:pt x="3603486" y="0"/>
                </a:lnTo>
                <a:lnTo>
                  <a:pt x="3603486" y="2827044"/>
                </a:lnTo>
                <a:lnTo>
                  <a:pt x="0" y="2827044"/>
                </a:lnTo>
                <a:lnTo>
                  <a:pt x="0" y="0"/>
                </a:lnTo>
                <a:close/>
              </a:path>
            </a:pathLst>
          </a:custGeom>
          <a:blipFill>
            <a:blip r:embed="rId14"/>
            <a:stretch>
              <a:fillRect l="0" t="0" r="0" b="0"/>
            </a:stretch>
          </a:blipFill>
        </p:spPr>
      </p:sp>
      <p:sp>
        <p:nvSpPr>
          <p:cNvPr name="Freeform 21" id="21"/>
          <p:cNvSpPr/>
          <p:nvPr/>
        </p:nvSpPr>
        <p:spPr>
          <a:xfrm flipH="false" flipV="false" rot="0">
            <a:off x="9859086" y="6495829"/>
            <a:ext cx="3824729" cy="3419460"/>
          </a:xfrm>
          <a:custGeom>
            <a:avLst/>
            <a:gdLst/>
            <a:ahLst/>
            <a:cxnLst/>
            <a:rect r="r" b="b" t="t" l="l"/>
            <a:pathLst>
              <a:path h="3419460" w="3824729">
                <a:moveTo>
                  <a:pt x="0" y="0"/>
                </a:moveTo>
                <a:lnTo>
                  <a:pt x="3824729" y="0"/>
                </a:lnTo>
                <a:lnTo>
                  <a:pt x="3824729" y="3419460"/>
                </a:lnTo>
                <a:lnTo>
                  <a:pt x="0" y="3419460"/>
                </a:lnTo>
                <a:lnTo>
                  <a:pt x="0" y="0"/>
                </a:lnTo>
                <a:close/>
              </a:path>
            </a:pathLst>
          </a:custGeom>
          <a:blipFill>
            <a:blip r:embed="rId15"/>
            <a:stretch>
              <a:fillRect l="0" t="0" r="0" b="0"/>
            </a:stretch>
          </a:blipFill>
        </p:spPr>
      </p:sp>
      <p:sp>
        <p:nvSpPr>
          <p:cNvPr name="TextBox 22" id="22"/>
          <p:cNvSpPr txBox="true"/>
          <p:nvPr/>
        </p:nvSpPr>
        <p:spPr>
          <a:xfrm rot="0">
            <a:off x="9673012" y="722730"/>
            <a:ext cx="6747646" cy="1919099"/>
          </a:xfrm>
          <a:prstGeom prst="rect">
            <a:avLst/>
          </a:prstGeom>
        </p:spPr>
        <p:txBody>
          <a:bodyPr anchor="t" rtlCol="false" tIns="0" lIns="0" bIns="0" rIns="0">
            <a:spAutoFit/>
          </a:bodyPr>
          <a:lstStyle/>
          <a:p>
            <a:pPr algn="l">
              <a:lnSpc>
                <a:spcPts val="4814"/>
              </a:lnSpc>
            </a:pPr>
            <a:r>
              <a:rPr lang="en-US" sz="6506" spc="-325" b="true">
                <a:solidFill>
                  <a:srgbClr val="D9D9E3"/>
                </a:solidFill>
                <a:latin typeface="Helvetica World Bold"/>
                <a:ea typeface="Helvetica World Bold"/>
                <a:cs typeface="Helvetica World Bold"/>
                <a:sym typeface="Helvetica World Bold"/>
              </a:rPr>
              <a:t>Mengapa Memilih Blockchain?</a:t>
            </a:r>
          </a:p>
          <a:p>
            <a:pPr algn="l" marL="0" indent="0" lvl="0">
              <a:lnSpc>
                <a:spcPts val="4814"/>
              </a:lnSpc>
            </a:pPr>
          </a:p>
        </p:txBody>
      </p:sp>
      <p:sp>
        <p:nvSpPr>
          <p:cNvPr name="TextBox 23" id="23"/>
          <p:cNvSpPr txBox="true"/>
          <p:nvPr/>
        </p:nvSpPr>
        <p:spPr>
          <a:xfrm rot="0">
            <a:off x="1375179" y="4109366"/>
            <a:ext cx="5156558" cy="3511444"/>
          </a:xfrm>
          <a:prstGeom prst="rect">
            <a:avLst/>
          </a:prstGeom>
        </p:spPr>
        <p:txBody>
          <a:bodyPr anchor="t" rtlCol="false" tIns="0" lIns="0" bIns="0" rIns="0">
            <a:spAutoFit/>
          </a:bodyPr>
          <a:lstStyle/>
          <a:p>
            <a:pPr algn="l">
              <a:lnSpc>
                <a:spcPts val="3115"/>
              </a:lnSpc>
            </a:pPr>
            <a:r>
              <a:rPr lang="en-US" sz="2452" spc="-61">
                <a:solidFill>
                  <a:srgbClr val="D9D9E3"/>
                </a:solidFill>
                <a:latin typeface="Bricolage Grotesque"/>
                <a:ea typeface="Bricolage Grotesque"/>
                <a:cs typeface="Bricolage Grotesque"/>
                <a:sym typeface="Bricolage Grotesque"/>
              </a:rPr>
              <a:t>        Keunggulan Fungsional</a:t>
            </a:r>
          </a:p>
          <a:p>
            <a:pPr algn="l" marL="529595" indent="-264798" lvl="1">
              <a:lnSpc>
                <a:spcPts val="3115"/>
              </a:lnSpc>
              <a:buFont typeface="Arial"/>
              <a:buChar char="•"/>
            </a:pPr>
            <a:r>
              <a:rPr lang="en-US" sz="2452" spc="-61">
                <a:solidFill>
                  <a:srgbClr val="D9D9E3"/>
                </a:solidFill>
                <a:latin typeface="Bricolage Grotesque"/>
                <a:ea typeface="Bricolage Grotesque"/>
                <a:cs typeface="Bricolage Grotesque"/>
                <a:sym typeface="Bricolage Grotesque"/>
              </a:rPr>
              <a:t>Sinkronisasi data otomatis antar seluruh node kampus.</a:t>
            </a:r>
          </a:p>
          <a:p>
            <a:pPr algn="l" marL="529595" indent="-264798" lvl="1">
              <a:lnSpc>
                <a:spcPts val="3115"/>
              </a:lnSpc>
              <a:buFont typeface="Arial"/>
              <a:buChar char="•"/>
            </a:pPr>
            <a:r>
              <a:rPr lang="en-US" sz="2452" spc="-61">
                <a:solidFill>
                  <a:srgbClr val="D9D9E3"/>
                </a:solidFill>
                <a:latin typeface="Bricolage Grotesque"/>
                <a:ea typeface="Bricolage Grotesque"/>
                <a:cs typeface="Bricolage Grotesque"/>
                <a:sym typeface="Bricolage Grotesque"/>
              </a:rPr>
              <a:t>Audit trail permanen untuk pertanggungjawaban penggunaan aset.</a:t>
            </a:r>
          </a:p>
          <a:p>
            <a:pPr algn="l" marL="529595" indent="-264798" lvl="1">
              <a:lnSpc>
                <a:spcPts val="3115"/>
              </a:lnSpc>
              <a:buFont typeface="Arial"/>
              <a:buChar char="•"/>
            </a:pPr>
            <a:r>
              <a:rPr lang="en-US" sz="2452" spc="-61">
                <a:solidFill>
                  <a:srgbClr val="D9D9E3"/>
                </a:solidFill>
                <a:latin typeface="Bricolage Grotesque"/>
                <a:ea typeface="Bricolage Grotesque"/>
                <a:cs typeface="Bricolage Grotesque"/>
                <a:sym typeface="Bricolage Grotesque"/>
              </a:rPr>
              <a:t>Otomatisasi aturan melalui Smart Contract tanpa perantara.</a:t>
            </a:r>
          </a:p>
          <a:p>
            <a:pPr algn="l" marL="0" indent="0" lvl="0">
              <a:lnSpc>
                <a:spcPts val="3115"/>
              </a:lnSpc>
            </a:pPr>
          </a:p>
        </p:txBody>
      </p:sp>
      <p:sp>
        <p:nvSpPr>
          <p:cNvPr name="TextBox 24" id="24"/>
          <p:cNvSpPr txBox="true"/>
          <p:nvPr/>
        </p:nvSpPr>
        <p:spPr>
          <a:xfrm rot="0">
            <a:off x="9709001" y="4738775"/>
            <a:ext cx="6061829" cy="2959302"/>
          </a:xfrm>
          <a:prstGeom prst="rect">
            <a:avLst/>
          </a:prstGeom>
        </p:spPr>
        <p:txBody>
          <a:bodyPr anchor="t" rtlCol="false" tIns="0" lIns="0" bIns="0" rIns="0">
            <a:spAutoFit/>
          </a:bodyPr>
          <a:lstStyle/>
          <a:p>
            <a:pPr algn="l">
              <a:lnSpc>
                <a:spcPts val="6829"/>
              </a:lnSpc>
            </a:pPr>
            <a:r>
              <a:rPr lang="en-US" sz="5377" spc="-134">
                <a:solidFill>
                  <a:srgbClr val="D9D9E3"/>
                </a:solidFill>
                <a:latin typeface="Bricolage Grotesque"/>
                <a:ea typeface="Bricolage Grotesque"/>
                <a:cs typeface="Bricolage Grotesque"/>
                <a:sym typeface="Bricolage Grotesque"/>
              </a:rPr>
              <a:t>Efisensi Melalui Proof of Stake (PoS)</a:t>
            </a:r>
          </a:p>
          <a:p>
            <a:pPr algn="l">
              <a:lnSpc>
                <a:spcPts val="2448"/>
              </a:lnSpc>
            </a:pPr>
          </a:p>
          <a:p>
            <a:pPr algn="l" marL="0" indent="0" lvl="0">
              <a:lnSpc>
                <a:spcPts val="7399"/>
              </a:lnSpc>
            </a:pPr>
          </a:p>
        </p:txBody>
      </p:sp>
      <p:sp>
        <p:nvSpPr>
          <p:cNvPr name="TextBox 25" id="25"/>
          <p:cNvSpPr txBox="true"/>
          <p:nvPr/>
        </p:nvSpPr>
        <p:spPr>
          <a:xfrm rot="0">
            <a:off x="15770830" y="9075092"/>
            <a:ext cx="1916715" cy="347366"/>
          </a:xfrm>
          <a:prstGeom prst="rect">
            <a:avLst/>
          </a:prstGeom>
        </p:spPr>
        <p:txBody>
          <a:bodyPr anchor="t" rtlCol="false" tIns="0" lIns="0" bIns="0" rIns="0">
            <a:spAutoFit/>
          </a:bodyPr>
          <a:lstStyle/>
          <a:p>
            <a:pPr algn="ctr" marL="0" indent="0" lvl="0">
              <a:lnSpc>
                <a:spcPts val="2791"/>
              </a:lnSpc>
            </a:pPr>
            <a:r>
              <a:rPr lang="en-US" sz="2198" spc="-54">
                <a:solidFill>
                  <a:srgbClr val="6178CE"/>
                </a:solidFill>
                <a:latin typeface="Bricolage Grotesque"/>
                <a:ea typeface="Bricolage Grotesque"/>
                <a:cs typeface="Bricolage Grotesque"/>
                <a:sym typeface="Bricolage Grotesque"/>
              </a:rPr>
              <a:t>Selanjutnya!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C3866"/>
        </a:solidFill>
      </p:bgPr>
    </p:bg>
    <p:spTree>
      <p:nvGrpSpPr>
        <p:cNvPr id="1" name=""/>
        <p:cNvGrpSpPr/>
        <p:nvPr/>
      </p:nvGrpSpPr>
      <p:grpSpPr>
        <a:xfrm>
          <a:off x="0" y="0"/>
          <a:ext cx="0" cy="0"/>
          <a:chOff x="0" y="0"/>
          <a:chExt cx="0" cy="0"/>
        </a:xfrm>
      </p:grpSpPr>
      <p:sp>
        <p:nvSpPr>
          <p:cNvPr name="Freeform 2" id="2"/>
          <p:cNvSpPr/>
          <p:nvPr/>
        </p:nvSpPr>
        <p:spPr>
          <a:xfrm flipH="false" flipV="false" rot="0">
            <a:off x="6370042" y="-1414889"/>
            <a:ext cx="14467786" cy="8312400"/>
          </a:xfrm>
          <a:custGeom>
            <a:avLst/>
            <a:gdLst/>
            <a:ahLst/>
            <a:cxnLst/>
            <a:rect r="r" b="b" t="t" l="l"/>
            <a:pathLst>
              <a:path h="8312400" w="14467786">
                <a:moveTo>
                  <a:pt x="0" y="0"/>
                </a:moveTo>
                <a:lnTo>
                  <a:pt x="14467786" y="0"/>
                </a:lnTo>
                <a:lnTo>
                  <a:pt x="14467786" y="8312401"/>
                </a:lnTo>
                <a:lnTo>
                  <a:pt x="0" y="8312401"/>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528952" y="-1733500"/>
            <a:ext cx="13794380" cy="13794380"/>
          </a:xfrm>
          <a:custGeom>
            <a:avLst/>
            <a:gdLst/>
            <a:ahLst/>
            <a:cxnLst/>
            <a:rect r="r" b="b" t="t" l="l"/>
            <a:pathLst>
              <a:path h="13794380" w="13794380">
                <a:moveTo>
                  <a:pt x="0" y="0"/>
                </a:moveTo>
                <a:lnTo>
                  <a:pt x="13794380" y="0"/>
                </a:lnTo>
                <a:lnTo>
                  <a:pt x="13794380" y="13794381"/>
                </a:lnTo>
                <a:lnTo>
                  <a:pt x="0" y="137943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799151" y="4337568"/>
            <a:ext cx="8689698" cy="1516653"/>
          </a:xfrm>
          <a:prstGeom prst="rect">
            <a:avLst/>
          </a:prstGeom>
        </p:spPr>
        <p:txBody>
          <a:bodyPr anchor="t" rtlCol="false" tIns="0" lIns="0" bIns="0" rIns="0">
            <a:spAutoFit/>
          </a:bodyPr>
          <a:lstStyle/>
          <a:p>
            <a:pPr algn="l" marL="0" indent="0" lvl="0">
              <a:lnSpc>
                <a:spcPts val="9226"/>
              </a:lnSpc>
            </a:pPr>
            <a:r>
              <a:rPr lang="en-US" b="true" sz="12467" spc="-623">
                <a:solidFill>
                  <a:srgbClr val="D9D9E3"/>
                </a:solidFill>
                <a:latin typeface="Helvetica World Bold"/>
                <a:ea typeface="Helvetica World Bold"/>
                <a:cs typeface="Helvetica World Bold"/>
                <a:sym typeface="Helvetica World Bold"/>
              </a:rPr>
              <a:t>Terimakasih</a:t>
            </a:r>
          </a:p>
        </p:txBody>
      </p:sp>
      <p:sp>
        <p:nvSpPr>
          <p:cNvPr name="Freeform 5" id="5"/>
          <p:cNvSpPr/>
          <p:nvPr/>
        </p:nvSpPr>
        <p:spPr>
          <a:xfrm flipH="false" flipV="false" rot="0">
            <a:off x="1028700" y="1028700"/>
            <a:ext cx="566226" cy="741486"/>
          </a:xfrm>
          <a:custGeom>
            <a:avLst/>
            <a:gdLst/>
            <a:ahLst/>
            <a:cxnLst/>
            <a:rect r="r" b="b" t="t" l="l"/>
            <a:pathLst>
              <a:path h="741486" w="566226">
                <a:moveTo>
                  <a:pt x="0" y="0"/>
                </a:moveTo>
                <a:lnTo>
                  <a:pt x="566226" y="0"/>
                </a:lnTo>
                <a:lnTo>
                  <a:pt x="566226" y="741486"/>
                </a:lnTo>
                <a:lnTo>
                  <a:pt x="0" y="7414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3702648" y="1028700"/>
            <a:ext cx="3556652" cy="718867"/>
            <a:chOff x="0" y="0"/>
            <a:chExt cx="1004855" cy="203100"/>
          </a:xfrm>
        </p:grpSpPr>
        <p:sp>
          <p:nvSpPr>
            <p:cNvPr name="Freeform 7" id="7"/>
            <p:cNvSpPr/>
            <p:nvPr/>
          </p:nvSpPr>
          <p:spPr>
            <a:xfrm flipH="false" flipV="false" rot="0">
              <a:off x="0" y="0"/>
              <a:ext cx="1004855" cy="203100"/>
            </a:xfrm>
            <a:custGeom>
              <a:avLst/>
              <a:gdLst/>
              <a:ahLst/>
              <a:cxnLst/>
              <a:rect r="r" b="b" t="t" l="l"/>
              <a:pathLst>
                <a:path h="203100" w="1004855">
                  <a:moveTo>
                    <a:pt x="47888" y="0"/>
                  </a:moveTo>
                  <a:lnTo>
                    <a:pt x="956966" y="0"/>
                  </a:lnTo>
                  <a:cubicBezTo>
                    <a:pt x="969667" y="0"/>
                    <a:pt x="981848" y="5045"/>
                    <a:pt x="990828" y="14026"/>
                  </a:cubicBezTo>
                  <a:cubicBezTo>
                    <a:pt x="999809" y="23007"/>
                    <a:pt x="1004855" y="35188"/>
                    <a:pt x="1004855" y="47888"/>
                  </a:cubicBezTo>
                  <a:lnTo>
                    <a:pt x="1004855" y="155212"/>
                  </a:lnTo>
                  <a:cubicBezTo>
                    <a:pt x="1004855" y="181660"/>
                    <a:pt x="983414" y="203100"/>
                    <a:pt x="956966" y="203100"/>
                  </a:cubicBezTo>
                  <a:lnTo>
                    <a:pt x="47888" y="203100"/>
                  </a:lnTo>
                  <a:cubicBezTo>
                    <a:pt x="21440" y="203100"/>
                    <a:pt x="0" y="181660"/>
                    <a:pt x="0" y="155212"/>
                  </a:cubicBezTo>
                  <a:lnTo>
                    <a:pt x="0" y="47888"/>
                  </a:lnTo>
                  <a:cubicBezTo>
                    <a:pt x="0" y="21440"/>
                    <a:pt x="21440" y="0"/>
                    <a:pt x="47888" y="0"/>
                  </a:cubicBezTo>
                  <a:close/>
                </a:path>
              </a:pathLst>
            </a:custGeom>
            <a:solidFill>
              <a:srgbClr val="6178CE"/>
            </a:solidFill>
          </p:spPr>
        </p:sp>
        <p:sp>
          <p:nvSpPr>
            <p:cNvPr name="TextBox 8" id="8"/>
            <p:cNvSpPr txBox="true"/>
            <p:nvPr/>
          </p:nvSpPr>
          <p:spPr>
            <a:xfrm>
              <a:off x="0" y="-38100"/>
              <a:ext cx="1004855" cy="2412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261787" y="3792970"/>
            <a:ext cx="1350530" cy="135053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74523" y="0"/>
                  </a:moveTo>
                  <a:lnTo>
                    <a:pt x="738277" y="0"/>
                  </a:lnTo>
                  <a:cubicBezTo>
                    <a:pt x="758042" y="0"/>
                    <a:pt x="776997" y="7851"/>
                    <a:pt x="790973" y="21827"/>
                  </a:cubicBezTo>
                  <a:cubicBezTo>
                    <a:pt x="804949" y="35803"/>
                    <a:pt x="812800" y="54758"/>
                    <a:pt x="812800" y="74523"/>
                  </a:cubicBezTo>
                  <a:lnTo>
                    <a:pt x="812800" y="738277"/>
                  </a:lnTo>
                  <a:cubicBezTo>
                    <a:pt x="812800" y="758042"/>
                    <a:pt x="804949" y="776997"/>
                    <a:pt x="790973" y="790973"/>
                  </a:cubicBezTo>
                  <a:cubicBezTo>
                    <a:pt x="776997" y="804949"/>
                    <a:pt x="758042" y="812800"/>
                    <a:pt x="738277" y="812800"/>
                  </a:cubicBezTo>
                  <a:lnTo>
                    <a:pt x="74523" y="812800"/>
                  </a:lnTo>
                  <a:cubicBezTo>
                    <a:pt x="54758" y="812800"/>
                    <a:pt x="35803" y="804949"/>
                    <a:pt x="21827" y="790973"/>
                  </a:cubicBezTo>
                  <a:cubicBezTo>
                    <a:pt x="7851" y="776997"/>
                    <a:pt x="0" y="758042"/>
                    <a:pt x="0" y="738277"/>
                  </a:cubicBezTo>
                  <a:lnTo>
                    <a:pt x="0" y="74523"/>
                  </a:lnTo>
                  <a:cubicBezTo>
                    <a:pt x="0" y="54758"/>
                    <a:pt x="7851" y="35803"/>
                    <a:pt x="21827" y="21827"/>
                  </a:cubicBezTo>
                  <a:cubicBezTo>
                    <a:pt x="35803" y="7851"/>
                    <a:pt x="54758" y="0"/>
                    <a:pt x="74523" y="0"/>
                  </a:cubicBezTo>
                  <a:close/>
                </a:path>
              </a:pathLst>
            </a:custGeom>
            <a:solidFill>
              <a:srgbClr val="6178CE"/>
            </a:solidFill>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2434892" y="4052812"/>
            <a:ext cx="1004320" cy="830847"/>
          </a:xfrm>
          <a:custGeom>
            <a:avLst/>
            <a:gdLst/>
            <a:ahLst/>
            <a:cxnLst/>
            <a:rect r="r" b="b" t="t" l="l"/>
            <a:pathLst>
              <a:path h="830847" w="1004320">
                <a:moveTo>
                  <a:pt x="0" y="0"/>
                </a:moveTo>
                <a:lnTo>
                  <a:pt x="1004321" y="0"/>
                </a:lnTo>
                <a:lnTo>
                  <a:pt x="1004321" y="830846"/>
                </a:lnTo>
                <a:lnTo>
                  <a:pt x="0" y="8308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10186077" y="1488450"/>
            <a:ext cx="1506434" cy="150643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118202" y="0"/>
                  </a:moveTo>
                  <a:lnTo>
                    <a:pt x="694598" y="0"/>
                  </a:lnTo>
                  <a:cubicBezTo>
                    <a:pt x="759879" y="0"/>
                    <a:pt x="812800" y="52921"/>
                    <a:pt x="812800" y="118202"/>
                  </a:cubicBezTo>
                  <a:lnTo>
                    <a:pt x="812800" y="694598"/>
                  </a:lnTo>
                  <a:cubicBezTo>
                    <a:pt x="812800" y="759879"/>
                    <a:pt x="759879" y="812800"/>
                    <a:pt x="694598" y="812800"/>
                  </a:cubicBezTo>
                  <a:lnTo>
                    <a:pt x="118202" y="812800"/>
                  </a:lnTo>
                  <a:cubicBezTo>
                    <a:pt x="52921" y="812800"/>
                    <a:pt x="0" y="759879"/>
                    <a:pt x="0" y="694598"/>
                  </a:cubicBezTo>
                  <a:lnTo>
                    <a:pt x="0" y="118202"/>
                  </a:lnTo>
                  <a:cubicBezTo>
                    <a:pt x="0" y="52921"/>
                    <a:pt x="52921" y="0"/>
                    <a:pt x="118202" y="0"/>
                  </a:cubicBezTo>
                  <a:close/>
                </a:path>
              </a:pathLst>
            </a:custGeom>
            <a:solidFill>
              <a:srgbClr val="6178CE"/>
            </a:solidFill>
          </p:spPr>
        </p:sp>
        <p:sp>
          <p:nvSpPr>
            <p:cNvPr name="TextBox 15" id="15"/>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452141" y="1742023"/>
            <a:ext cx="974306" cy="999289"/>
          </a:xfrm>
          <a:custGeom>
            <a:avLst/>
            <a:gdLst/>
            <a:ahLst/>
            <a:cxnLst/>
            <a:rect r="r" b="b" t="t" l="l"/>
            <a:pathLst>
              <a:path h="999289" w="974306">
                <a:moveTo>
                  <a:pt x="0" y="0"/>
                </a:moveTo>
                <a:lnTo>
                  <a:pt x="974306" y="0"/>
                </a:lnTo>
                <a:lnTo>
                  <a:pt x="974306" y="999288"/>
                </a:lnTo>
                <a:lnTo>
                  <a:pt x="0" y="9992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7" id="17"/>
          <p:cNvGrpSpPr/>
          <p:nvPr/>
        </p:nvGrpSpPr>
        <p:grpSpPr>
          <a:xfrm rot="0">
            <a:off x="14162711" y="5645259"/>
            <a:ext cx="1481033" cy="148103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115002" y="0"/>
                  </a:moveTo>
                  <a:lnTo>
                    <a:pt x="697798" y="0"/>
                  </a:lnTo>
                  <a:cubicBezTo>
                    <a:pt x="761312" y="0"/>
                    <a:pt x="812800" y="51488"/>
                    <a:pt x="812800" y="115002"/>
                  </a:cubicBezTo>
                  <a:lnTo>
                    <a:pt x="812800" y="697798"/>
                  </a:lnTo>
                  <a:cubicBezTo>
                    <a:pt x="812800" y="761312"/>
                    <a:pt x="761312" y="812800"/>
                    <a:pt x="697798" y="812800"/>
                  </a:cubicBezTo>
                  <a:lnTo>
                    <a:pt x="115002" y="812800"/>
                  </a:lnTo>
                  <a:cubicBezTo>
                    <a:pt x="51488" y="812800"/>
                    <a:pt x="0" y="761312"/>
                    <a:pt x="0" y="697798"/>
                  </a:cubicBezTo>
                  <a:lnTo>
                    <a:pt x="0" y="115002"/>
                  </a:lnTo>
                  <a:cubicBezTo>
                    <a:pt x="0" y="51488"/>
                    <a:pt x="51488" y="0"/>
                    <a:pt x="115002" y="0"/>
                  </a:cubicBezTo>
                  <a:close/>
                </a:path>
              </a:pathLst>
            </a:custGeom>
            <a:solidFill>
              <a:srgbClr val="6178CE"/>
            </a:solidFill>
          </p:spPr>
        </p:sp>
        <p:sp>
          <p:nvSpPr>
            <p:cNvPr name="TextBox 19" id="19"/>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4391492" y="5874041"/>
            <a:ext cx="1023471" cy="1023471"/>
          </a:xfrm>
          <a:custGeom>
            <a:avLst/>
            <a:gdLst/>
            <a:ahLst/>
            <a:cxnLst/>
            <a:rect r="r" b="b" t="t" l="l"/>
            <a:pathLst>
              <a:path h="1023471" w="1023471">
                <a:moveTo>
                  <a:pt x="0" y="0"/>
                </a:moveTo>
                <a:lnTo>
                  <a:pt x="1023471" y="0"/>
                </a:lnTo>
                <a:lnTo>
                  <a:pt x="1023471" y="1023471"/>
                </a:lnTo>
                <a:lnTo>
                  <a:pt x="0" y="102347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21" id="21"/>
          <p:cNvGrpSpPr/>
          <p:nvPr/>
        </p:nvGrpSpPr>
        <p:grpSpPr>
          <a:xfrm rot="0">
            <a:off x="6741588" y="7413833"/>
            <a:ext cx="1060225" cy="106022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124136" y="0"/>
                  </a:moveTo>
                  <a:lnTo>
                    <a:pt x="688663" y="0"/>
                  </a:lnTo>
                  <a:cubicBezTo>
                    <a:pt x="721587" y="0"/>
                    <a:pt x="753161" y="13079"/>
                    <a:pt x="776441" y="36359"/>
                  </a:cubicBezTo>
                  <a:cubicBezTo>
                    <a:pt x="799721" y="59639"/>
                    <a:pt x="812800" y="91213"/>
                    <a:pt x="812800" y="124136"/>
                  </a:cubicBezTo>
                  <a:lnTo>
                    <a:pt x="812800" y="688663"/>
                  </a:lnTo>
                  <a:cubicBezTo>
                    <a:pt x="812800" y="721587"/>
                    <a:pt x="799721" y="753161"/>
                    <a:pt x="776441" y="776441"/>
                  </a:cubicBezTo>
                  <a:cubicBezTo>
                    <a:pt x="753161" y="799721"/>
                    <a:pt x="721587" y="812800"/>
                    <a:pt x="688663" y="812800"/>
                  </a:cubicBezTo>
                  <a:lnTo>
                    <a:pt x="124136" y="812800"/>
                  </a:lnTo>
                  <a:cubicBezTo>
                    <a:pt x="91213" y="812800"/>
                    <a:pt x="59639" y="799721"/>
                    <a:pt x="36359" y="776441"/>
                  </a:cubicBezTo>
                  <a:cubicBezTo>
                    <a:pt x="13079" y="753161"/>
                    <a:pt x="0" y="721587"/>
                    <a:pt x="0" y="688663"/>
                  </a:cubicBezTo>
                  <a:lnTo>
                    <a:pt x="0" y="124136"/>
                  </a:lnTo>
                  <a:cubicBezTo>
                    <a:pt x="0" y="91213"/>
                    <a:pt x="13079" y="59639"/>
                    <a:pt x="36359" y="36359"/>
                  </a:cubicBezTo>
                  <a:cubicBezTo>
                    <a:pt x="59639" y="13079"/>
                    <a:pt x="91213" y="0"/>
                    <a:pt x="124136" y="0"/>
                  </a:cubicBezTo>
                  <a:close/>
                </a:path>
              </a:pathLst>
            </a:custGeom>
            <a:solidFill>
              <a:srgbClr val="6178CE"/>
            </a:solidFill>
          </p:spPr>
        </p:sp>
        <p:sp>
          <p:nvSpPr>
            <p:cNvPr name="TextBox 23" id="23"/>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24" id="24"/>
          <p:cNvSpPr/>
          <p:nvPr/>
        </p:nvSpPr>
        <p:spPr>
          <a:xfrm flipH="false" flipV="false" rot="0">
            <a:off x="6927361" y="7556651"/>
            <a:ext cx="688680" cy="774589"/>
          </a:xfrm>
          <a:custGeom>
            <a:avLst/>
            <a:gdLst/>
            <a:ahLst/>
            <a:cxnLst/>
            <a:rect r="r" b="b" t="t" l="l"/>
            <a:pathLst>
              <a:path h="774589" w="688680">
                <a:moveTo>
                  <a:pt x="0" y="0"/>
                </a:moveTo>
                <a:lnTo>
                  <a:pt x="688679" y="0"/>
                </a:lnTo>
                <a:lnTo>
                  <a:pt x="688679" y="774589"/>
                </a:lnTo>
                <a:lnTo>
                  <a:pt x="0" y="77458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5" id="25"/>
          <p:cNvSpPr txBox="true"/>
          <p:nvPr/>
        </p:nvSpPr>
        <p:spPr>
          <a:xfrm rot="0">
            <a:off x="1966690" y="1027128"/>
            <a:ext cx="3070694" cy="668431"/>
          </a:xfrm>
          <a:prstGeom prst="rect">
            <a:avLst/>
          </a:prstGeom>
        </p:spPr>
        <p:txBody>
          <a:bodyPr anchor="t" rtlCol="false" tIns="0" lIns="0" bIns="0" rIns="0">
            <a:spAutoFit/>
          </a:bodyPr>
          <a:lstStyle/>
          <a:p>
            <a:pPr algn="l" marL="0" indent="0" lvl="0">
              <a:lnSpc>
                <a:spcPts val="5487"/>
              </a:lnSpc>
              <a:spcBef>
                <a:spcPct val="0"/>
              </a:spcBef>
            </a:pPr>
            <a:r>
              <a:rPr lang="en-US" sz="3919" spc="-97">
                <a:solidFill>
                  <a:srgbClr val="D9D9E3"/>
                </a:solidFill>
                <a:latin typeface="Bricolage Grotesque"/>
                <a:ea typeface="Bricolage Grotesque"/>
                <a:cs typeface="Bricolage Grotesque"/>
                <a:sym typeface="Bricolage Grotesque"/>
              </a:rPr>
              <a:t>Blokchain</a:t>
            </a:r>
          </a:p>
        </p:txBody>
      </p:sp>
      <p:sp>
        <p:nvSpPr>
          <p:cNvPr name="TextBox 26" id="26"/>
          <p:cNvSpPr txBox="true"/>
          <p:nvPr/>
        </p:nvSpPr>
        <p:spPr>
          <a:xfrm rot="0">
            <a:off x="13779009" y="1204926"/>
            <a:ext cx="3403930" cy="347416"/>
          </a:xfrm>
          <a:prstGeom prst="rect">
            <a:avLst/>
          </a:prstGeom>
        </p:spPr>
        <p:txBody>
          <a:bodyPr anchor="t" rtlCol="false" tIns="0" lIns="0" bIns="0" rIns="0">
            <a:spAutoFit/>
          </a:bodyPr>
          <a:lstStyle/>
          <a:p>
            <a:pPr algn="ctr" marL="0" indent="0" lvl="0">
              <a:lnSpc>
                <a:spcPts val="2791"/>
              </a:lnSpc>
            </a:pPr>
            <a:r>
              <a:rPr lang="en-US" sz="2198" spc="-54">
                <a:solidFill>
                  <a:srgbClr val="D9D9E3"/>
                </a:solidFill>
                <a:latin typeface="Bricolage Grotesque"/>
                <a:ea typeface="Bricolage Grotesque"/>
                <a:cs typeface="Bricolage Grotesque"/>
                <a:sym typeface="Bricolage Grotesque"/>
              </a:rPr>
              <a:t>Kelompok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DAHI3QxqMRs</dc:identifier>
  <dcterms:modified xsi:type="dcterms:W3CDTF">2011-08-01T06:04:30Z</dcterms:modified>
  <cp:revision>1</cp:revision>
  <dc:title>UTS_Kelompok2_blokchain</dc:title>
</cp:coreProperties>
</file>